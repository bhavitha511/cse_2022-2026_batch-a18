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7" r:id="rId2"/>
    <p:sldId id="268" r:id="rId3"/>
    <p:sldId id="275" r:id="rId4"/>
    <p:sldId id="276" r:id="rId5"/>
    <p:sldId id="277" r:id="rId6"/>
    <p:sldId id="278" r:id="rId7"/>
    <p:sldId id="279" r:id="rId8"/>
    <p:sldId id="280" r:id="rId9"/>
    <p:sldId id="281" r:id="rId10"/>
    <p:sldId id="282" r:id="rId11"/>
    <p:sldId id="2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5CF8CB-0999-4939-B6A3-C4D85D85FDC1}" v="30" dt="2025-12-05T05:00:49.114"/>
    <p1510:client id="{50418C1C-C367-47AA-B23C-463F856A672A}" v="14" dt="2025-12-04T17:07:08.4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660"/>
  </p:normalViewPr>
  <p:slideViewPr>
    <p:cSldViewPr snapToGrid="0">
      <p:cViewPr varScale="1">
        <p:scale>
          <a:sx n="81" d="100"/>
          <a:sy n="81" d="100"/>
        </p:scale>
        <p:origin x="52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D1D45-6469-45A7-9D4E-05D7E019FAF5}"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C5B14-35BC-466B-8C06-66DBAD6F47F3}" type="slidenum">
              <a:rPr lang="en-IN" smtClean="0"/>
              <a:t>‹#›</a:t>
            </a:fld>
            <a:endParaRPr lang="en-IN"/>
          </a:p>
        </p:txBody>
      </p:sp>
    </p:spTree>
    <p:extLst>
      <p:ext uri="{BB962C8B-B14F-4D97-AF65-F5344CB8AC3E}">
        <p14:creationId xmlns:p14="http://schemas.microsoft.com/office/powerpoint/2010/main" val="329209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C5B14-35BC-466B-8C06-66DBAD6F47F3}" type="slidenum">
              <a:rPr lang="en-IN" smtClean="0"/>
              <a:t>1</a:t>
            </a:fld>
            <a:endParaRPr lang="en-IN"/>
          </a:p>
        </p:txBody>
      </p:sp>
    </p:spTree>
    <p:extLst>
      <p:ext uri="{BB962C8B-B14F-4D97-AF65-F5344CB8AC3E}">
        <p14:creationId xmlns:p14="http://schemas.microsoft.com/office/powerpoint/2010/main" val="2880531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pPr/>
              <a:t>2</a:t>
            </a:fld>
            <a:endParaRPr lang="en-US"/>
          </a:p>
        </p:txBody>
      </p:sp>
    </p:spTree>
    <p:extLst>
      <p:ext uri="{BB962C8B-B14F-4D97-AF65-F5344CB8AC3E}">
        <p14:creationId xmlns:p14="http://schemas.microsoft.com/office/powerpoint/2010/main" val="2760131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5A58-5BA8-87AA-2E81-0535A72F2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F7E5B-BE92-5437-5B13-A7D5AD1D2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5F034-959C-A179-2985-6536152564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1FEC5C-F498-6384-92E6-D33CB3F09012}"/>
              </a:ext>
            </a:extLst>
          </p:cNvPr>
          <p:cNvSpPr>
            <a:spLocks noGrp="1"/>
          </p:cNvSpPr>
          <p:nvPr>
            <p:ph type="sldNum" sz="quarter" idx="5"/>
          </p:nvPr>
        </p:nvSpPr>
        <p:spPr/>
        <p:txBody>
          <a:bodyPr/>
          <a:lstStyle/>
          <a:p>
            <a:fld id="{28FC78BE-84F6-4F5F-974A-47A573FE2857}" type="slidenum">
              <a:rPr lang="en-US" smtClean="0"/>
              <a:pPr/>
              <a:t>3</a:t>
            </a:fld>
            <a:endParaRPr lang="en-US"/>
          </a:p>
        </p:txBody>
      </p:sp>
    </p:spTree>
    <p:extLst>
      <p:ext uri="{BB962C8B-B14F-4D97-AF65-F5344CB8AC3E}">
        <p14:creationId xmlns:p14="http://schemas.microsoft.com/office/powerpoint/2010/main" val="4146071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1ACE-FA5A-D2B9-F254-15FAC1806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42344-5C7C-31A9-89C1-68C90C2E4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D9EFA-6561-8161-AB32-755673041D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3A229-3E2D-3835-14F5-F1E87CEBA5E5}"/>
              </a:ext>
            </a:extLst>
          </p:cNvPr>
          <p:cNvSpPr>
            <a:spLocks noGrp="1"/>
          </p:cNvSpPr>
          <p:nvPr>
            <p:ph type="sldNum" sz="quarter" idx="5"/>
          </p:nvPr>
        </p:nvSpPr>
        <p:spPr/>
        <p:txBody>
          <a:bodyPr/>
          <a:lstStyle/>
          <a:p>
            <a:fld id="{28FC78BE-84F6-4F5F-974A-47A573FE2857}" type="slidenum">
              <a:rPr lang="en-US" smtClean="0"/>
              <a:pPr/>
              <a:t>4</a:t>
            </a:fld>
            <a:endParaRPr lang="en-US"/>
          </a:p>
        </p:txBody>
      </p:sp>
    </p:spTree>
    <p:extLst>
      <p:ext uri="{BB962C8B-B14F-4D97-AF65-F5344CB8AC3E}">
        <p14:creationId xmlns:p14="http://schemas.microsoft.com/office/powerpoint/2010/main" val="390688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9D27-B22B-BAC6-FAA0-D2B127B1B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64512-592D-070D-9EF6-37D95D552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A90F9-305D-0E8D-F4EC-E0C06A84B2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80DC10-FEC8-5B00-D15F-A8F84A365D63}"/>
              </a:ext>
            </a:extLst>
          </p:cNvPr>
          <p:cNvSpPr>
            <a:spLocks noGrp="1"/>
          </p:cNvSpPr>
          <p:nvPr>
            <p:ph type="sldNum" sz="quarter" idx="5"/>
          </p:nvPr>
        </p:nvSpPr>
        <p:spPr/>
        <p:txBody>
          <a:bodyPr/>
          <a:lstStyle/>
          <a:p>
            <a:fld id="{28FC78BE-84F6-4F5F-974A-47A573FE2857}" type="slidenum">
              <a:rPr lang="en-US" smtClean="0"/>
              <a:pPr/>
              <a:t>5</a:t>
            </a:fld>
            <a:endParaRPr lang="en-US"/>
          </a:p>
        </p:txBody>
      </p:sp>
    </p:spTree>
    <p:extLst>
      <p:ext uri="{BB962C8B-B14F-4D97-AF65-F5344CB8AC3E}">
        <p14:creationId xmlns:p14="http://schemas.microsoft.com/office/powerpoint/2010/main" val="2915384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AB38-255B-148E-895A-D701DE1F6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9D1E2-E319-0D46-0AAC-2AC0027810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89B73-03FF-D428-EF72-28A955051A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01CBCC-18A8-85E6-09CC-48A7706FDF63}"/>
              </a:ext>
            </a:extLst>
          </p:cNvPr>
          <p:cNvSpPr>
            <a:spLocks noGrp="1"/>
          </p:cNvSpPr>
          <p:nvPr>
            <p:ph type="sldNum" sz="quarter" idx="5"/>
          </p:nvPr>
        </p:nvSpPr>
        <p:spPr/>
        <p:txBody>
          <a:bodyPr/>
          <a:lstStyle/>
          <a:p>
            <a:fld id="{28FC78BE-84F6-4F5F-974A-47A573FE2857}" type="slidenum">
              <a:rPr lang="en-US" smtClean="0"/>
              <a:pPr/>
              <a:t>6</a:t>
            </a:fld>
            <a:endParaRPr lang="en-US"/>
          </a:p>
        </p:txBody>
      </p:sp>
    </p:spTree>
    <p:extLst>
      <p:ext uri="{BB962C8B-B14F-4D97-AF65-F5344CB8AC3E}">
        <p14:creationId xmlns:p14="http://schemas.microsoft.com/office/powerpoint/2010/main" val="2514409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3375-60D9-28C1-53DC-D237B3C4D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884A-3801-9906-4669-94B04A63A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67BEC-B0D1-8049-7990-43CED831AB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C25515-26DB-1A09-7BF9-CCC086D66B86}"/>
              </a:ext>
            </a:extLst>
          </p:cNvPr>
          <p:cNvSpPr>
            <a:spLocks noGrp="1"/>
          </p:cNvSpPr>
          <p:nvPr>
            <p:ph type="sldNum" sz="quarter" idx="5"/>
          </p:nvPr>
        </p:nvSpPr>
        <p:spPr/>
        <p:txBody>
          <a:bodyPr/>
          <a:lstStyle/>
          <a:p>
            <a:fld id="{28FC78BE-84F6-4F5F-974A-47A573FE2857}" type="slidenum">
              <a:rPr lang="en-US" smtClean="0"/>
              <a:pPr/>
              <a:t>7</a:t>
            </a:fld>
            <a:endParaRPr lang="en-US"/>
          </a:p>
        </p:txBody>
      </p:sp>
    </p:spTree>
    <p:extLst>
      <p:ext uri="{BB962C8B-B14F-4D97-AF65-F5344CB8AC3E}">
        <p14:creationId xmlns:p14="http://schemas.microsoft.com/office/powerpoint/2010/main" val="3092244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90749-AF63-8644-83C0-B31B5750D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F7FC5-EB23-9980-6FC7-CF1818F28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7BECC-94C8-3293-8C88-1D0B442EA3F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C86CDD-C9B7-5F74-2CD1-F14090909CCB}"/>
              </a:ext>
            </a:extLst>
          </p:cNvPr>
          <p:cNvSpPr>
            <a:spLocks noGrp="1"/>
          </p:cNvSpPr>
          <p:nvPr>
            <p:ph type="sldNum" sz="quarter" idx="5"/>
          </p:nvPr>
        </p:nvSpPr>
        <p:spPr/>
        <p:txBody>
          <a:bodyPr/>
          <a:lstStyle/>
          <a:p>
            <a:fld id="{28FC78BE-84F6-4F5F-974A-47A573FE2857}" type="slidenum">
              <a:rPr lang="en-US" smtClean="0"/>
              <a:pPr/>
              <a:t>8</a:t>
            </a:fld>
            <a:endParaRPr lang="en-US"/>
          </a:p>
        </p:txBody>
      </p:sp>
    </p:spTree>
    <p:extLst>
      <p:ext uri="{BB962C8B-B14F-4D97-AF65-F5344CB8AC3E}">
        <p14:creationId xmlns:p14="http://schemas.microsoft.com/office/powerpoint/2010/main" val="1224882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11A1-A520-6692-8AC1-CDC7B8697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98781-0784-8373-21DB-C5C195012B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E8905-08AD-438F-53A3-37CB8C43C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6CFDA5-D29B-387A-9E5A-1B66C39578A1}"/>
              </a:ext>
            </a:extLst>
          </p:cNvPr>
          <p:cNvSpPr>
            <a:spLocks noGrp="1"/>
          </p:cNvSpPr>
          <p:nvPr>
            <p:ph type="sldNum" sz="quarter" idx="5"/>
          </p:nvPr>
        </p:nvSpPr>
        <p:spPr/>
        <p:txBody>
          <a:bodyPr/>
          <a:lstStyle/>
          <a:p>
            <a:fld id="{28FC78BE-84F6-4F5F-974A-47A573FE2857}" type="slidenum">
              <a:rPr lang="en-US" smtClean="0"/>
              <a:pPr/>
              <a:t>9</a:t>
            </a:fld>
            <a:endParaRPr lang="en-US"/>
          </a:p>
        </p:txBody>
      </p:sp>
    </p:spTree>
    <p:extLst>
      <p:ext uri="{BB962C8B-B14F-4D97-AF65-F5344CB8AC3E}">
        <p14:creationId xmlns:p14="http://schemas.microsoft.com/office/powerpoint/2010/main" val="2546710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A5057-4A63-292D-33F8-7465440EB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2002E-BD9B-D7A2-A34B-165CCA57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50E99-7AD7-F62C-4FB4-35B9BB69CB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398B3A-D72F-DE12-EF0A-67F2DEC71482}"/>
              </a:ext>
            </a:extLst>
          </p:cNvPr>
          <p:cNvSpPr>
            <a:spLocks noGrp="1"/>
          </p:cNvSpPr>
          <p:nvPr>
            <p:ph type="sldNum" sz="quarter" idx="5"/>
          </p:nvPr>
        </p:nvSpPr>
        <p:spPr/>
        <p:txBody>
          <a:bodyPr/>
          <a:lstStyle/>
          <a:p>
            <a:fld id="{28FC78BE-84F6-4F5F-974A-47A573FE2857}" type="slidenum">
              <a:rPr lang="en-US" smtClean="0"/>
              <a:pPr/>
              <a:t>10</a:t>
            </a:fld>
            <a:endParaRPr lang="en-US"/>
          </a:p>
        </p:txBody>
      </p:sp>
    </p:spTree>
    <p:extLst>
      <p:ext uri="{BB962C8B-B14F-4D97-AF65-F5344CB8AC3E}">
        <p14:creationId xmlns:p14="http://schemas.microsoft.com/office/powerpoint/2010/main" val="4155892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02D7-03F8-8AC7-D1AC-F7EFB8C1B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22628-6229-EC41-5B49-EBA055D3C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8A17F-5C2B-D585-4CA2-9ED854B4C1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5FF443-4FD0-F4FA-51DA-F2CA2BA54F5D}"/>
              </a:ext>
            </a:extLst>
          </p:cNvPr>
          <p:cNvSpPr>
            <a:spLocks noGrp="1"/>
          </p:cNvSpPr>
          <p:nvPr>
            <p:ph type="sldNum" sz="quarter" idx="5"/>
          </p:nvPr>
        </p:nvSpPr>
        <p:spPr/>
        <p:txBody>
          <a:bodyPr/>
          <a:lstStyle/>
          <a:p>
            <a:fld id="{28FC78BE-84F6-4F5F-974A-47A573FE2857}" type="slidenum">
              <a:rPr lang="en-US" smtClean="0"/>
              <a:pPr/>
              <a:t>11</a:t>
            </a:fld>
            <a:endParaRPr lang="en-US"/>
          </a:p>
        </p:txBody>
      </p:sp>
    </p:spTree>
    <p:extLst>
      <p:ext uri="{BB962C8B-B14F-4D97-AF65-F5344CB8AC3E}">
        <p14:creationId xmlns:p14="http://schemas.microsoft.com/office/powerpoint/2010/main" val="3734252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6F7E-009E-BFEB-C37A-2A9E516A0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C02FF5-9A92-4590-E2E2-33E7F47C5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20DF9E-A7DD-B54B-A0E5-A59199D69200}"/>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E09522FE-8A63-70C2-0F76-3EC4F380E2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10ABB-CAC6-AD9E-CA16-FB6199953A26}"/>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35171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4597-D753-A1CA-05B9-5A5ADCE9F5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5A4807-4949-70BC-EFC5-B444189393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F9EF5-B53B-B8F3-73B5-52A785B100C6}"/>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81AF9B32-693D-5F55-2E4B-7C44ECE050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64B629-26AE-31C4-D4E2-81E34ED02845}"/>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4128974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00E81-FD43-9FC5-F4AD-A2B229B84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49C76D-CCF2-463B-BE19-8E421E963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24B7A-388E-E53A-F1AC-25B0CC00393A}"/>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242EB7DA-648F-9CF9-DF59-8A29F189CD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F946B1-3E4E-9BF8-703E-60C10B5BFBBB}"/>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1037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C39D-9057-836C-6367-9778DBD84C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3CDBB5-5F5F-E8C3-20EE-32D4EF0F7E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3ACF99-01ED-9A6C-032E-EC0D6A675A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850886-5085-8914-5DF8-5D9C52AF2049}"/>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6" name="Footer Placeholder 5">
            <a:extLst>
              <a:ext uri="{FF2B5EF4-FFF2-40B4-BE49-F238E27FC236}">
                <a16:creationId xmlns:a16="http://schemas.microsoft.com/office/drawing/2014/main" id="{58D53C6E-B8BA-1EDC-9109-612032209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7E7F3E-CA8E-CA1B-CE29-61DCCC82242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225073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C53A-BAAB-36AE-0B5E-A91A98C7C4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2C93B-7E17-7D21-3E55-C0B3947BC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C7ACA-5A04-6C78-7C46-24DD0641E9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1DB73-95E0-2CA5-1FAA-485060D45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8570A-C147-361A-270A-350B68584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514703-0378-48EB-2D1D-7F4922945BE0}"/>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8" name="Footer Placeholder 7">
            <a:extLst>
              <a:ext uri="{FF2B5EF4-FFF2-40B4-BE49-F238E27FC236}">
                <a16:creationId xmlns:a16="http://schemas.microsoft.com/office/drawing/2014/main" id="{7F2EE4F8-A60F-D9F9-CAAE-32AE0FE6C0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31DA8-888B-D212-D220-7AEE167D207F}"/>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05606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D602-B283-69F3-F102-395D730BCB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86205C-4426-9929-8251-ADEBC079F9FE}"/>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4" name="Footer Placeholder 3">
            <a:extLst>
              <a:ext uri="{FF2B5EF4-FFF2-40B4-BE49-F238E27FC236}">
                <a16:creationId xmlns:a16="http://schemas.microsoft.com/office/drawing/2014/main" id="{EA5E2032-F457-1054-AF89-9E900A75BA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669171-D6D6-D6A4-865E-791B889C33DC}"/>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769391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23FBE-12D0-2517-ECEA-C2A93913C694}"/>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3" name="Footer Placeholder 2">
            <a:extLst>
              <a:ext uri="{FF2B5EF4-FFF2-40B4-BE49-F238E27FC236}">
                <a16:creationId xmlns:a16="http://schemas.microsoft.com/office/drawing/2014/main" id="{1EC080F8-8229-8E1D-A8E8-B2BAED6914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AA8199-F2CE-D464-414C-2E2D7A82C1F4}"/>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684102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E41D-E09A-1D31-FB44-60F73D02C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6588AB-C354-920D-B642-C4B72AB852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973447-B6B5-C20E-F555-CA3739B36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34B233-B9EF-274E-C5B1-1EEA34D889DC}"/>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6" name="Footer Placeholder 5">
            <a:extLst>
              <a:ext uri="{FF2B5EF4-FFF2-40B4-BE49-F238E27FC236}">
                <a16:creationId xmlns:a16="http://schemas.microsoft.com/office/drawing/2014/main" id="{F06EA7E9-8413-1CD1-55DD-201B4D9E36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FDE02-D27A-3007-13F6-CD5FB6C38897}"/>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84395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EE92-0673-8D5D-7692-90E81C7DC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5F483E-1BDD-55E7-3E4A-2AEC00E97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2A7BCD-37E6-6317-FB10-B6DF6F233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8DDD7-D562-A017-7B16-F96DDF88734D}"/>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6" name="Footer Placeholder 5">
            <a:extLst>
              <a:ext uri="{FF2B5EF4-FFF2-40B4-BE49-F238E27FC236}">
                <a16:creationId xmlns:a16="http://schemas.microsoft.com/office/drawing/2014/main" id="{3FAEF617-63EE-1855-FA6E-75A1C1AC8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DD47F0-8385-DC86-88B5-9692CB7FDF2A}"/>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75097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D632-7E92-D52D-7A8F-3F71DB4246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2D827-BAA4-987D-E6DE-7106860D4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6399DE-B890-3A55-0DD8-09032516342D}"/>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4E36BE0A-3D2E-123E-22B6-F09E129BB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44216D-D689-A634-8DC9-7EF2F0FA3E68}"/>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68708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965D50-FFFC-196D-9962-0C5A16F87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F1AFF-34F0-9FF7-0824-FF83B057DE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4F87-4FFF-D541-815C-42DAF5BED3B9}"/>
              </a:ext>
            </a:extLst>
          </p:cNvPr>
          <p:cNvSpPr>
            <a:spLocks noGrp="1"/>
          </p:cNvSpPr>
          <p:nvPr>
            <p:ph type="dt" sz="half" idx="10"/>
          </p:nvPr>
        </p:nvSpPr>
        <p:spPr/>
        <p:txBody>
          <a:body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8CB531E4-DE51-5AF5-0ABC-BC4518D7E6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02BC8F-8BC9-FC4C-66C3-30DFEFE67BA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7900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1657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2C521-2D18-7140-975B-85EDC255C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3C7CA4-1941-1257-05C4-C15451558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35C15F-01C2-3D60-D347-02F1C9278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B0E7A-691A-49A6-B1F0-D26B85CC67C5}" type="datetimeFigureOut">
              <a:rPr lang="en-IN" smtClean="0"/>
              <a:t>12-12-2025</a:t>
            </a:fld>
            <a:endParaRPr lang="en-IN"/>
          </a:p>
        </p:txBody>
      </p:sp>
      <p:sp>
        <p:nvSpPr>
          <p:cNvPr id="5" name="Footer Placeholder 4">
            <a:extLst>
              <a:ext uri="{FF2B5EF4-FFF2-40B4-BE49-F238E27FC236}">
                <a16:creationId xmlns:a16="http://schemas.microsoft.com/office/drawing/2014/main" id="{140CA51C-EBAC-AA2A-45C3-CC89F7DA24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16D6D1-6109-0C99-439D-DDDA7E1A8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2E5909-80DD-4F63-A607-40297820B079}" type="slidenum">
              <a:rPr lang="en-IN" smtClean="0"/>
              <a:t>‹#›</a:t>
            </a:fld>
            <a:endParaRPr lang="en-IN"/>
          </a:p>
        </p:txBody>
      </p:sp>
    </p:spTree>
    <p:extLst>
      <p:ext uri="{BB962C8B-B14F-4D97-AF65-F5344CB8AC3E}">
        <p14:creationId xmlns:p14="http://schemas.microsoft.com/office/powerpoint/2010/main" val="156349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searchgate.net/publication/385654013_Online_Hall_Allocation_System_OHAS_for_Improved_Examination_Center_Scheduling?utm_source=chatgpt.com" TargetMode="External"/><Relationship Id="rId7" Type="http://schemas.openxmlformats.org/officeDocument/2006/relationships/hyperlink" Target="https://www.mdpi.com/2073-431X/14/3/96?utm_source=chatgpt.com"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hyperlink" Target="https://www.ijcrt.org/papers/IJCRT2506891.pdf?utm_source=chatgpt.com" TargetMode="External"/><Relationship Id="rId5" Type="http://schemas.openxmlformats.org/officeDocument/2006/relationships/hyperlink" Target="https://www.irjet.net/archives/V12/i2/IRJET-V12I230.pdf?utm_source=chatgpt.com" TargetMode="External"/><Relationship Id="rId4" Type="http://schemas.openxmlformats.org/officeDocument/2006/relationships/hyperlink" Target="https://www.researchgate.net/publication/384297198_Development_of_Web_Based_Examination_Timetable_Management_and_Reporting_System?utm_source=chatgpt.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1294439" y="1603112"/>
            <a:ext cx="2382924"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400" b="0" dirty="0">
                <a:effectLst>
                  <a:outerShdw blurRad="38100" dist="38100" dir="2700000" algn="tl">
                    <a:srgbClr val="000000">
                      <a:alpha val="43137"/>
                    </a:srgbClr>
                  </a:outerShdw>
                </a:effectLst>
              </a:rPr>
              <a:t>Y.BHAVITHA</a:t>
            </a:r>
            <a:endParaRPr lang="en-US" sz="2400" b="0" dirty="0">
              <a:effectLst>
                <a:outerShdw blurRad="38100" dist="38100" dir="2700000" algn="tl">
                  <a:srgbClr val="000000">
                    <a:alpha val="43137"/>
                  </a:srgbClr>
                </a:outerShdw>
              </a:effectLst>
            </a:endParaRPr>
          </a:p>
          <a:p>
            <a:pPr>
              <a:spcBef>
                <a:spcPts val="300"/>
              </a:spcBef>
            </a:pPr>
            <a:r>
              <a:rPr lang="en-US" sz="1600" b="0" dirty="0"/>
              <a:t>Roll No. 224G1A0511</a:t>
            </a:r>
          </a:p>
        </p:txBody>
      </p:sp>
      <p:sp>
        <p:nvSpPr>
          <p:cNvPr id="6" name="Subtitle 11"/>
          <p:cNvSpPr txBox="1"/>
          <p:nvPr/>
        </p:nvSpPr>
        <p:spPr>
          <a:xfrm>
            <a:off x="3464774" y="2469602"/>
            <a:ext cx="5262426" cy="142718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1400" b="0" i="1" dirty="0"/>
              <a:t>Under the guidance of</a:t>
            </a:r>
          </a:p>
          <a:p>
            <a:pPr marL="12065" marR="5080">
              <a:lnSpc>
                <a:spcPts val="2790"/>
              </a:lnSpc>
              <a:spcBef>
                <a:spcPts val="114"/>
              </a:spcBef>
            </a:pPr>
            <a:r>
              <a:rPr lang="en-IN" sz="2400" spc="-10" dirty="0">
                <a:latin typeface="Times New Roman"/>
                <a:cs typeface="Times New Roman"/>
              </a:rPr>
              <a:t>Dr. S. Rajesh Babu, </a:t>
            </a:r>
            <a:r>
              <a:rPr lang="en-IN" sz="1400" spc="-10" dirty="0" err="1">
                <a:latin typeface="Times New Roman"/>
                <a:cs typeface="Times New Roman"/>
              </a:rPr>
              <a:t>M.Tech</a:t>
            </a:r>
            <a:r>
              <a:rPr lang="en-IN" sz="1400" spc="-10" dirty="0">
                <a:latin typeface="Times New Roman"/>
                <a:cs typeface="Times New Roman"/>
              </a:rPr>
              <a:t>., </a:t>
            </a:r>
            <a:r>
              <a:rPr lang="en-IN" sz="1400" spc="-10" dirty="0" err="1">
                <a:latin typeface="Times New Roman"/>
                <a:cs typeface="Times New Roman"/>
              </a:rPr>
              <a:t>ph.D.</a:t>
            </a:r>
            <a:r>
              <a:rPr lang="en-IN" sz="1400" spc="-10" dirty="0">
                <a:latin typeface="Times New Roman"/>
                <a:cs typeface="Times New Roman"/>
              </a:rPr>
              <a:t> </a:t>
            </a:r>
          </a:p>
          <a:p>
            <a:pPr marL="12065" marR="5080">
              <a:lnSpc>
                <a:spcPts val="2790"/>
              </a:lnSpc>
              <a:spcBef>
                <a:spcPts val="114"/>
              </a:spcBef>
            </a:pPr>
            <a:r>
              <a:rPr lang="en-IN" sz="1400" spc="-10" dirty="0">
                <a:latin typeface="Times New Roman"/>
                <a:cs typeface="Times New Roman"/>
              </a:rPr>
              <a:t>Assistant Professor</a:t>
            </a:r>
            <a:endParaRPr lang="en-US" sz="1400" b="0" i="1"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4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8000" b="0" dirty="0">
                <a:solidFill>
                  <a:srgbClr val="FF0000"/>
                </a:solidFill>
                <a:effectLst>
                  <a:outerShdw blurRad="38100" dist="38100" dir="2700000" algn="tl">
                    <a:srgbClr val="000000">
                      <a:alpha val="43137"/>
                    </a:srgbClr>
                  </a:outerShdw>
                </a:effectLst>
              </a:rPr>
              <a:t>Srinivasa Ramanujan Institute of Technology</a:t>
            </a:r>
            <a:endParaRPr lang="en-US" sz="3400" b="0" dirty="0"/>
          </a:p>
          <a:p>
            <a:pPr>
              <a:spcBef>
                <a:spcPts val="300"/>
              </a:spcBef>
            </a:pPr>
            <a:r>
              <a:rPr lang="en-US" sz="3100" dirty="0">
                <a:ea typeface="Times New Roman" panose="02020603050405020304" pitchFamily="18" charset="0"/>
              </a:rPr>
              <a:t>Autonomous</a:t>
            </a:r>
            <a:endParaRPr lang="en-US" sz="3100" b="0" dirty="0"/>
          </a:p>
          <a:p>
            <a:pPr>
              <a:spcBef>
                <a:spcPts val="300"/>
              </a:spcBef>
            </a:pPr>
            <a:r>
              <a:rPr lang="en-IN" sz="2400" b="0" dirty="0"/>
              <a:t> </a:t>
            </a:r>
            <a:r>
              <a:rPr lang="en-IN" sz="2400" dirty="0" err="1"/>
              <a:t>Rotarypuram</a:t>
            </a:r>
            <a:r>
              <a:rPr lang="en-IN" sz="2400" dirty="0"/>
              <a:t> Village, B K </a:t>
            </a:r>
            <a:r>
              <a:rPr lang="en-IN" sz="2400" dirty="0" err="1"/>
              <a:t>Samudram</a:t>
            </a:r>
            <a:r>
              <a:rPr lang="en-IN" sz="2400" dirty="0"/>
              <a:t> Mandal, </a:t>
            </a:r>
            <a:r>
              <a:rPr lang="en-IN" sz="2400" dirty="0" err="1"/>
              <a:t>Ananthapuramu</a:t>
            </a:r>
            <a:r>
              <a:rPr lang="en-IN" sz="2400" dirty="0"/>
              <a:t> – 515701.</a:t>
            </a:r>
          </a:p>
          <a:p>
            <a:pPr>
              <a:spcBef>
                <a:spcPts val="300"/>
              </a:spcBef>
            </a:pPr>
            <a:endParaRPr lang="en-IN" sz="2000" b="0" dirty="0"/>
          </a:p>
          <a:p>
            <a:pPr>
              <a:spcBef>
                <a:spcPts val="300"/>
              </a:spcBef>
            </a:pPr>
            <a:r>
              <a:rPr lang="en-US" sz="2500" dirty="0">
                <a:solidFill>
                  <a:schemeClr val="accent1">
                    <a:lumMod val="50000"/>
                  </a:schemeClr>
                </a:solidFill>
              </a:rPr>
              <a:t>2025-2026</a:t>
            </a:r>
            <a:endParaRPr lang="en-US" sz="2500" b="0" dirty="0"/>
          </a:p>
          <a:p>
            <a:endParaRPr lang="en-IN" b="0" dirty="0"/>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4" name="Subtitle 11"/>
          <p:cNvSpPr txBox="1"/>
          <p:nvPr/>
        </p:nvSpPr>
        <p:spPr>
          <a:xfrm>
            <a:off x="1191460"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600" b="0" dirty="0">
              <a:effectLst>
                <a:outerShdw blurRad="38100" dist="38100" dir="2700000" algn="tl">
                  <a:srgbClr val="000000">
                    <a:alpha val="43137"/>
                  </a:srgbClr>
                </a:outerShdw>
              </a:effectLst>
            </a:endParaRPr>
          </a:p>
        </p:txBody>
      </p:sp>
      <p:sp>
        <p:nvSpPr>
          <p:cNvPr id="17" name="Rectangle: Rounded Corners 16"/>
          <p:cNvSpPr/>
          <p:nvPr/>
        </p:nvSpPr>
        <p:spPr>
          <a:xfrm>
            <a:off x="831897" y="328748"/>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bg1"/>
                </a:solidFill>
                <a:latin typeface="Times New Roman" panose="02020603050405020304" pitchFamily="18" charset="0"/>
                <a:cs typeface="Times New Roman" panose="02020603050405020304" pitchFamily="18" charset="0"/>
              </a:rPr>
              <a:t>Automation Of Invigilation Duties</a:t>
            </a:r>
            <a:endParaRPr lang="en-IN" sz="2400" b="1" dirty="0"/>
          </a:p>
        </p:txBody>
      </p:sp>
      <p:sp>
        <p:nvSpPr>
          <p:cNvPr id="18" name="Rectangle 17"/>
          <p:cNvSpPr/>
          <p:nvPr/>
        </p:nvSpPr>
        <p:spPr>
          <a:xfrm>
            <a:off x="2714836" y="1303981"/>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sp>
        <p:nvSpPr>
          <p:cNvPr id="8" name="Subtitle 11">
            <a:extLst>
              <a:ext uri="{FF2B5EF4-FFF2-40B4-BE49-F238E27FC236}">
                <a16:creationId xmlns:a16="http://schemas.microsoft.com/office/drawing/2014/main" id="{EC3D4ED3-536E-5956-66AE-0537022784C7}"/>
              </a:ext>
            </a:extLst>
          </p:cNvPr>
          <p:cNvSpPr txBox="1"/>
          <p:nvPr/>
        </p:nvSpPr>
        <p:spPr>
          <a:xfrm>
            <a:off x="4774153" y="1603112"/>
            <a:ext cx="2627919"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400" b="0" dirty="0">
                <a:effectLst>
                  <a:outerShdw blurRad="38100" dist="38100" dir="2700000" algn="tl">
                    <a:srgbClr val="000000">
                      <a:alpha val="43137"/>
                    </a:srgbClr>
                  </a:outerShdw>
                </a:effectLst>
              </a:rPr>
              <a:t>A.RAMYA SREE</a:t>
            </a:r>
            <a:endParaRPr lang="en-US" sz="2400" b="0" dirty="0">
              <a:effectLst>
                <a:outerShdw blurRad="38100" dist="38100" dir="2700000" algn="tl">
                  <a:srgbClr val="000000">
                    <a:alpha val="43137"/>
                  </a:srgbClr>
                </a:outerShdw>
              </a:effectLst>
            </a:endParaRPr>
          </a:p>
          <a:p>
            <a:pPr>
              <a:spcBef>
                <a:spcPts val="300"/>
              </a:spcBef>
            </a:pPr>
            <a:r>
              <a:rPr lang="en-US" sz="1600" b="0" dirty="0"/>
              <a:t>Roll No. 224G1A0582</a:t>
            </a:r>
          </a:p>
        </p:txBody>
      </p:sp>
      <p:sp>
        <p:nvSpPr>
          <p:cNvPr id="9" name="Subtitle 11">
            <a:extLst>
              <a:ext uri="{FF2B5EF4-FFF2-40B4-BE49-F238E27FC236}">
                <a16:creationId xmlns:a16="http://schemas.microsoft.com/office/drawing/2014/main" id="{04A56587-79A6-DCEE-A22B-FCD3B9EB37C7}"/>
              </a:ext>
            </a:extLst>
          </p:cNvPr>
          <p:cNvSpPr txBox="1"/>
          <p:nvPr/>
        </p:nvSpPr>
        <p:spPr>
          <a:xfrm>
            <a:off x="5965615" y="1630100"/>
            <a:ext cx="2627920"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1600" b="0" dirty="0"/>
          </a:p>
        </p:txBody>
      </p:sp>
      <p:sp>
        <p:nvSpPr>
          <p:cNvPr id="10" name="Subtitle 11">
            <a:extLst>
              <a:ext uri="{FF2B5EF4-FFF2-40B4-BE49-F238E27FC236}">
                <a16:creationId xmlns:a16="http://schemas.microsoft.com/office/drawing/2014/main" id="{2A4AC06D-6433-FF01-E60C-C84BD2364478}"/>
              </a:ext>
            </a:extLst>
          </p:cNvPr>
          <p:cNvSpPr txBox="1"/>
          <p:nvPr/>
        </p:nvSpPr>
        <p:spPr>
          <a:xfrm>
            <a:off x="8057668" y="1603112"/>
            <a:ext cx="3148812" cy="7255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400" b="0" dirty="0">
                <a:effectLst>
                  <a:outerShdw blurRad="38100" dist="38100" dir="2700000" algn="tl">
                    <a:srgbClr val="000000">
                      <a:alpha val="43137"/>
                    </a:srgbClr>
                  </a:outerShdw>
                </a:effectLst>
              </a:rPr>
              <a:t>J.SUMANTH</a:t>
            </a:r>
          </a:p>
          <a:p>
            <a:pPr>
              <a:spcBef>
                <a:spcPts val="300"/>
              </a:spcBef>
            </a:pPr>
            <a:r>
              <a:rPr lang="en-US" sz="1600" b="0" dirty="0"/>
              <a:t>Roll No. 224G1A05A9</a:t>
            </a:r>
          </a:p>
        </p:txBody>
      </p:sp>
      <p:sp>
        <p:nvSpPr>
          <p:cNvPr id="2" name="TextBox 1">
            <a:extLst>
              <a:ext uri="{FF2B5EF4-FFF2-40B4-BE49-F238E27FC236}">
                <a16:creationId xmlns:a16="http://schemas.microsoft.com/office/drawing/2014/main" id="{D429619D-09F3-780E-7EEA-965AFCB0ACC9}"/>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3" name="TextBox 2">
            <a:extLst>
              <a:ext uri="{FF2B5EF4-FFF2-40B4-BE49-F238E27FC236}">
                <a16:creationId xmlns:a16="http://schemas.microsoft.com/office/drawing/2014/main" id="{238A0E17-78D6-9D47-0A57-AC3BB2A79621}"/>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3CBBB32-3F20-C4EA-1271-34796C33DD5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6C90BAD-7E49-D965-05FA-251CB0D61B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02</a:t>
            </a:r>
          </a:p>
        </p:txBody>
      </p:sp>
      <p:pic>
        <p:nvPicPr>
          <p:cNvPr id="15" name="object 19">
            <a:extLst>
              <a:ext uri="{FF2B5EF4-FFF2-40B4-BE49-F238E27FC236}">
                <a16:creationId xmlns:a16="http://schemas.microsoft.com/office/drawing/2014/main" id="{F89990DA-855B-1435-A1A6-464A24537A81}"/>
              </a:ext>
            </a:extLst>
          </p:cNvPr>
          <p:cNvPicPr/>
          <p:nvPr/>
        </p:nvPicPr>
        <p:blipFill>
          <a:blip r:embed="rId3" cstate="print"/>
          <a:stretch>
            <a:fillRect/>
          </a:stretch>
        </p:blipFill>
        <p:spPr>
          <a:xfrm>
            <a:off x="5330904" y="3429000"/>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6763-B2A1-8BF9-AA55-65B939CA53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C2D960-7553-39CB-22B5-9CEB4C3A516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C74C0B-82B1-C080-661A-99714B1C068C}"/>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646B4EA8-A61C-DDE2-235C-6BAF76E7B46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B2CE431-9087-C25C-F7FD-23F6F262C481}"/>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A23EB1F-302D-FBE9-9217-3CC3557AF44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02</a:t>
            </a:r>
          </a:p>
        </p:txBody>
      </p:sp>
      <p:sp>
        <p:nvSpPr>
          <p:cNvPr id="16" name="TextBox 15">
            <a:extLst>
              <a:ext uri="{FF2B5EF4-FFF2-40B4-BE49-F238E27FC236}">
                <a16:creationId xmlns:a16="http://schemas.microsoft.com/office/drawing/2014/main" id="{5356D09B-5C60-8305-454D-9414CDC195DE}"/>
              </a:ext>
            </a:extLst>
          </p:cNvPr>
          <p:cNvSpPr txBox="1"/>
          <p:nvPr/>
        </p:nvSpPr>
        <p:spPr>
          <a:xfrm>
            <a:off x="304800" y="409825"/>
            <a:ext cx="7315200"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Contents</a:t>
            </a:r>
          </a:p>
        </p:txBody>
      </p:sp>
      <p:sp>
        <p:nvSpPr>
          <p:cNvPr id="20" name="TextBox 19">
            <a:extLst>
              <a:ext uri="{FF2B5EF4-FFF2-40B4-BE49-F238E27FC236}">
                <a16:creationId xmlns:a16="http://schemas.microsoft.com/office/drawing/2014/main" id="{43587588-20A2-72BD-5959-4D871FD5EFE2}"/>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sz="1400" dirty="0"/>
          </a:p>
        </p:txBody>
      </p:sp>
      <p:sp>
        <p:nvSpPr>
          <p:cNvPr id="21" name="TextBox 20">
            <a:extLst>
              <a:ext uri="{FF2B5EF4-FFF2-40B4-BE49-F238E27FC236}">
                <a16:creationId xmlns:a16="http://schemas.microsoft.com/office/drawing/2014/main" id="{75AD3071-C62A-A5E3-BE52-8F1D1C680D6F}"/>
              </a:ext>
            </a:extLst>
          </p:cNvPr>
          <p:cNvSpPr txBox="1"/>
          <p:nvPr/>
        </p:nvSpPr>
        <p:spPr>
          <a:xfrm>
            <a:off x="152400" y="1295400"/>
            <a:ext cx="11430000" cy="4688463"/>
          </a:xfrm>
          <a:prstGeom prst="rect">
            <a:avLst/>
          </a:prstGeom>
          <a:noFill/>
        </p:spPr>
        <p:txBody>
          <a:bodyPr wrap="square" rtlCol="0">
            <a:spAutoFit/>
          </a:bodyPr>
          <a:lstStyle/>
          <a:p>
            <a:pPr marL="421005" indent="-408305">
              <a:lnSpc>
                <a:spcPct val="100000"/>
              </a:lnSpc>
              <a:spcBef>
                <a:spcPts val="760"/>
              </a:spcBef>
              <a:buChar char="•"/>
              <a:tabLst>
                <a:tab pos="421005" algn="l"/>
              </a:tabLst>
            </a:pPr>
            <a:r>
              <a:rPr lang="en-US" sz="2800" dirty="0">
                <a:latin typeface="Times New Roman"/>
                <a:cs typeface="Times New Roman"/>
              </a:rPr>
              <a:t>Title</a:t>
            </a:r>
            <a:r>
              <a:rPr lang="en-US" sz="2800" spc="-25" dirty="0">
                <a:latin typeface="Times New Roman"/>
                <a:cs typeface="Times New Roman"/>
              </a:rPr>
              <a:t> </a:t>
            </a:r>
            <a:r>
              <a:rPr lang="en-US" sz="2800" spc="-10" dirty="0">
                <a:latin typeface="Times New Roman"/>
                <a:cs typeface="Times New Roman"/>
              </a:rPr>
              <a:t>Justification</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Abstract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Problem</a:t>
            </a:r>
            <a:r>
              <a:rPr lang="en-US" sz="2800" spc="-35" dirty="0">
                <a:latin typeface="Times New Roman"/>
                <a:cs typeface="Times New Roman"/>
              </a:rPr>
              <a:t> </a:t>
            </a:r>
            <a:r>
              <a:rPr lang="en-US" sz="2800" spc="-10" dirty="0">
                <a:latin typeface="Times New Roman"/>
                <a:cs typeface="Times New Roman"/>
              </a:rPr>
              <a:t>statement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Objectives</a:t>
            </a:r>
            <a:r>
              <a:rPr lang="en-US" sz="2800" spc="-40" dirty="0">
                <a:latin typeface="Times New Roman"/>
                <a:cs typeface="Times New Roman"/>
              </a:rPr>
              <a:t> </a:t>
            </a:r>
            <a:r>
              <a:rPr lang="en-US" sz="2800" dirty="0">
                <a:latin typeface="Times New Roman"/>
                <a:cs typeface="Times New Roman"/>
              </a:rPr>
              <a:t>of</a:t>
            </a:r>
            <a:r>
              <a:rPr lang="en-US" sz="2800" spc="-35" dirty="0">
                <a:latin typeface="Times New Roman"/>
                <a:cs typeface="Times New Roman"/>
              </a:rPr>
              <a:t> </a:t>
            </a:r>
            <a:r>
              <a:rPr lang="en-US" sz="2800" spc="-10" dirty="0">
                <a:latin typeface="Times New Roman"/>
                <a:cs typeface="Times New Roman"/>
              </a:rPr>
              <a:t>Project</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Literature</a:t>
            </a:r>
            <a:r>
              <a:rPr lang="en-US" sz="2800" spc="-35" dirty="0">
                <a:latin typeface="Times New Roman"/>
                <a:cs typeface="Times New Roman"/>
              </a:rPr>
              <a:t> </a:t>
            </a:r>
            <a:r>
              <a:rPr lang="en-US" sz="2800" dirty="0">
                <a:latin typeface="Times New Roman"/>
                <a:cs typeface="Times New Roman"/>
              </a:rPr>
              <a:t>survey</a:t>
            </a:r>
          </a:p>
          <a:p>
            <a:pPr marL="421005" indent="-408305">
              <a:lnSpc>
                <a:spcPct val="100000"/>
              </a:lnSpc>
              <a:spcBef>
                <a:spcPts val="660"/>
              </a:spcBef>
              <a:buChar char="•"/>
              <a:tabLst>
                <a:tab pos="421005" algn="l"/>
              </a:tabLst>
            </a:pPr>
            <a:r>
              <a:rPr lang="en-US" sz="2800">
                <a:latin typeface="Times New Roman"/>
                <a:cs typeface="Times New Roman"/>
              </a:rPr>
              <a:t>Proposed</a:t>
            </a:r>
            <a:r>
              <a:rPr lang="en-US" sz="2800" spc="-25">
                <a:latin typeface="Times New Roman"/>
                <a:cs typeface="Times New Roman"/>
              </a:rPr>
              <a:t> </a:t>
            </a:r>
            <a:r>
              <a:rPr lang="en-US" sz="2800">
                <a:latin typeface="Times New Roman"/>
                <a:cs typeface="Times New Roman"/>
              </a:rPr>
              <a:t>Work</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References</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a:cs typeface="Times New Roman"/>
              </a:rPr>
              <a:t>GitHub </a:t>
            </a:r>
            <a:r>
              <a:rPr lang="en-US" sz="2800" spc="-20" dirty="0">
                <a:latin typeface="Times New Roman"/>
                <a:cs typeface="Times New Roman"/>
              </a:rPr>
              <a:t>Link</a:t>
            </a:r>
            <a:endParaRPr lang="en-US" sz="2800" dirty="0">
              <a:latin typeface="Times New Roman"/>
              <a:cs typeface="Times New Roman"/>
            </a:endParaRPr>
          </a:p>
          <a:p>
            <a:pPr marL="421005" indent="-408305">
              <a:lnSpc>
                <a:spcPct val="100000"/>
              </a:lnSpc>
              <a:spcBef>
                <a:spcPts val="665"/>
              </a:spcBef>
              <a:buChar char="•"/>
              <a:tabLst>
                <a:tab pos="421005" algn="l"/>
              </a:tabLst>
            </a:pPr>
            <a:r>
              <a:rPr lang="en-US" sz="2800" spc="-10" dirty="0">
                <a:latin typeface="Times New Roman"/>
                <a:cs typeface="Times New Roman"/>
              </a:rPr>
              <a:t>Queries</a:t>
            </a:r>
            <a:endParaRPr lang="en-US" sz="2800" dirty="0">
              <a:latin typeface="Times New Roman"/>
              <a:cs typeface="Times New Roman"/>
            </a:endParaRPr>
          </a:p>
        </p:txBody>
      </p:sp>
    </p:spTree>
    <p:extLst>
      <p:ext uri="{BB962C8B-B14F-4D97-AF65-F5344CB8AC3E}">
        <p14:creationId xmlns:p14="http://schemas.microsoft.com/office/powerpoint/2010/main" val="2216668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5DE1-A732-1C6F-F420-E0ABD25D0F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5B0B5B-F86C-722E-B13C-39A03A8108A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5AF5E7-D309-9305-5795-61CA3367A99E}"/>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15386087-AA3B-8C77-D503-3E5C7E42D45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E14A66B-8779-1A43-26FB-747F8BC1CAB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67DE36-41A8-4844-0A71-29B860450370}"/>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03</a:t>
            </a:r>
          </a:p>
        </p:txBody>
      </p:sp>
      <p:sp>
        <p:nvSpPr>
          <p:cNvPr id="16" name="TextBox 15">
            <a:extLst>
              <a:ext uri="{FF2B5EF4-FFF2-40B4-BE49-F238E27FC236}">
                <a16:creationId xmlns:a16="http://schemas.microsoft.com/office/drawing/2014/main" id="{C88F3F16-A834-03C5-EEF4-0BB436184D88}"/>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Title</a:t>
            </a:r>
            <a:r>
              <a:rPr kumimoji="0" lang="en-IN" sz="4400" b="0" i="0" u="none" strike="noStrike" kern="0" cap="none" spc="-110"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Justification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D61D448-468B-5674-D714-E40EC5DC9E6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sz="1400" dirty="0"/>
          </a:p>
        </p:txBody>
      </p:sp>
      <p:sp>
        <p:nvSpPr>
          <p:cNvPr id="21" name="TextBox 20">
            <a:extLst>
              <a:ext uri="{FF2B5EF4-FFF2-40B4-BE49-F238E27FC236}">
                <a16:creationId xmlns:a16="http://schemas.microsoft.com/office/drawing/2014/main" id="{68DC9E73-0520-4EAB-9A28-693E055BF638}"/>
              </a:ext>
            </a:extLst>
          </p:cNvPr>
          <p:cNvSpPr txBox="1"/>
          <p:nvPr/>
        </p:nvSpPr>
        <p:spPr>
          <a:xfrm>
            <a:off x="304799" y="1327957"/>
            <a:ext cx="11582401" cy="4457952"/>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The title </a:t>
            </a:r>
            <a:r>
              <a:rPr lang="en-US" sz="2400" b="1" dirty="0">
                <a:latin typeface="Times New Roman" panose="02020603050405020304" pitchFamily="18" charset="0"/>
                <a:cs typeface="Times New Roman" panose="02020603050405020304" pitchFamily="18" charset="0"/>
              </a:rPr>
              <a:t>“Automation of Invigilation Duties”</a:t>
            </a:r>
            <a:r>
              <a:rPr lang="en-US" sz="2400" dirty="0">
                <a:latin typeface="Times New Roman" panose="02020603050405020304" pitchFamily="18" charset="0"/>
                <a:cs typeface="Times New Roman" panose="02020603050405020304" pitchFamily="18" charset="0"/>
              </a:rPr>
              <a:t> is chosen because the existing manual method of assigning invigilation responsibilities in educational institutions is time-consuming, prone to human errors, and often results in unfair workload distribution among faculty. As examinations grow in scale, administrators face increasing difficulty in handling faculty availability, timetable clashes, and subject-related constraints using traditional paper-based or spreadsheet-based processes.</a:t>
            </a:r>
          </a:p>
          <a:p>
            <a:pPr>
              <a:lnSpc>
                <a:spcPct val="150000"/>
              </a:lnSpc>
            </a:pPr>
            <a:r>
              <a:rPr lang="en-US" sz="2400" dirty="0">
                <a:latin typeface="Times New Roman" panose="02020603050405020304" pitchFamily="18" charset="0"/>
                <a:cs typeface="Times New Roman" panose="02020603050405020304" pitchFamily="18" charset="0"/>
              </a:rPr>
              <a:t>Automating the invigilation scheduling process ensures </a:t>
            </a:r>
            <a:r>
              <a:rPr lang="en-US" sz="2400" b="1" dirty="0">
                <a:latin typeface="Times New Roman" panose="02020603050405020304" pitchFamily="18" charset="0"/>
                <a:cs typeface="Times New Roman" panose="02020603050405020304" pitchFamily="18" charset="0"/>
              </a:rPr>
              <a:t>accuracy, fairness, transparency, and operational efficiency</a:t>
            </a:r>
            <a:r>
              <a:rPr lang="en-US" sz="2400" dirty="0">
                <a:latin typeface="Times New Roman" panose="02020603050405020304" pitchFamily="18" charset="0"/>
                <a:cs typeface="Times New Roman" panose="02020603050405020304" pitchFamily="18" charset="0"/>
              </a:rPr>
              <a:t>. </a:t>
            </a:r>
            <a:endParaRPr lang="en-US" sz="24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971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B871-CA1E-4A1C-88AE-2D75C8B868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00B486-26E2-2550-06AB-20F80D5D8D6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FCD6390-E63F-32A4-A6FA-B50A338BFC72}"/>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8F69A4FE-E0D5-D0DC-2FBC-3EC16C2DBC9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0F3F3F1-0E86-E505-5894-8119FD75C4C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B5D450F-79CA-B5DB-9760-3C26E2548017}"/>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04</a:t>
            </a:r>
          </a:p>
        </p:txBody>
      </p:sp>
      <p:sp>
        <p:nvSpPr>
          <p:cNvPr id="16" name="TextBox 15">
            <a:extLst>
              <a:ext uri="{FF2B5EF4-FFF2-40B4-BE49-F238E27FC236}">
                <a16:creationId xmlns:a16="http://schemas.microsoft.com/office/drawing/2014/main" id="{B60E1A02-4B63-41C6-4DCC-AE922889FC27}"/>
              </a:ext>
            </a:extLst>
          </p:cNvPr>
          <p:cNvSpPr txBox="1"/>
          <p:nvPr/>
        </p:nvSpPr>
        <p:spPr>
          <a:xfrm>
            <a:off x="304800" y="409825"/>
            <a:ext cx="7315200" cy="769441"/>
          </a:xfrm>
          <a:prstGeom prst="rect">
            <a:avLst/>
          </a:prstGeom>
          <a:noFill/>
        </p:spPr>
        <p:txBody>
          <a:bodyPr wrap="square" rtlCol="0">
            <a:spAutoFit/>
          </a:bodyPr>
          <a:lstStyle/>
          <a:p>
            <a:r>
              <a:rPr kumimoji="0" lang="en-IN" sz="2800" b="0" i="0" u="none" strike="noStrike" kern="0" cap="none" spc="-10"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Abstract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01B672-65A8-C080-1158-53A7475225DF}"/>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21" name="TextBox 20">
            <a:extLst>
              <a:ext uri="{FF2B5EF4-FFF2-40B4-BE49-F238E27FC236}">
                <a16:creationId xmlns:a16="http://schemas.microsoft.com/office/drawing/2014/main" id="{66040105-609C-4A8C-F67F-A32087CC7439}"/>
              </a:ext>
            </a:extLst>
          </p:cNvPr>
          <p:cNvSpPr txBox="1"/>
          <p:nvPr/>
        </p:nvSpPr>
        <p:spPr>
          <a:xfrm>
            <a:off x="152400" y="1385426"/>
            <a:ext cx="11454378" cy="4457952"/>
          </a:xfrm>
          <a:prstGeom prst="rect">
            <a:avLst/>
          </a:prstGeom>
          <a:noFill/>
        </p:spPr>
        <p:txBody>
          <a:bodyPr wrap="square" rtlCol="0">
            <a:spAutoFit/>
          </a:bodyPr>
          <a:lstStyle/>
          <a:p>
            <a:pPr algn="just">
              <a:lnSpc>
                <a:spcPct val="150000"/>
              </a:lnSpc>
              <a:spcBef>
                <a:spcPts val="1000"/>
              </a:spcBef>
            </a:pPr>
            <a:r>
              <a:rPr lang="en-US" sz="2400" dirty="0">
                <a:latin typeface="Times New Roman" panose="02020603050405020304" pitchFamily="18" charset="0"/>
                <a:cs typeface="Times New Roman" panose="02020603050405020304" pitchFamily="18" charset="0"/>
              </a:rPr>
              <a:t>The project </a:t>
            </a:r>
            <a:r>
              <a:rPr lang="en-US" sz="2400" b="1" dirty="0">
                <a:latin typeface="Times New Roman" panose="02020603050405020304" pitchFamily="18" charset="0"/>
                <a:cs typeface="Times New Roman" panose="02020603050405020304" pitchFamily="18" charset="0"/>
              </a:rPr>
              <a:t>“Automation of Invigilation Duties”</a:t>
            </a:r>
            <a:r>
              <a:rPr lang="en-US" sz="2400" dirty="0">
                <a:latin typeface="Times New Roman" panose="02020603050405020304" pitchFamily="18" charset="0"/>
                <a:cs typeface="Times New Roman" panose="02020603050405020304" pitchFamily="18" charset="0"/>
              </a:rPr>
              <a:t> focuses on developing a system that automates the scheduling and management of exam invigilators in educational institutions. Manual allocation often results in errors, conflicts, and uneven workload distribution. The proposed system streamlines this process by automatically assigning duties based on faculty availability, workload balance, and timetable constraints. It prevents overlapping schedules, ensures fairness, sends notifications, and generates clear, structured reports. By reducing administrative effort and improving accuracy, the system supports smooth, efficient, and transparent examination operations.</a:t>
            </a:r>
            <a:endParaRPr lang="en-US" sz="24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854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7939-BD59-29F2-84D0-A5C576448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5BF57-1113-19FC-DF2A-3D8DBE68370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70F1E4-7F59-F59D-176F-3A5063E0E655}"/>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F8EC6AE4-ACE3-4D0B-AA99-05145579BB5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79681A-9F71-03F5-44D2-6DE1B14709F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1E0949-0F2C-0AEE-365D-FF86705CCF2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05</a:t>
            </a:r>
          </a:p>
        </p:txBody>
      </p:sp>
      <p:sp>
        <p:nvSpPr>
          <p:cNvPr id="16" name="TextBox 15">
            <a:extLst>
              <a:ext uri="{FF2B5EF4-FFF2-40B4-BE49-F238E27FC236}">
                <a16:creationId xmlns:a16="http://schemas.microsoft.com/office/drawing/2014/main" id="{69CA9AA0-F742-7169-8320-19996CD211F5}"/>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Problem</a:t>
            </a:r>
            <a:r>
              <a:rPr kumimoji="0" lang="en-IN" sz="4400" b="0" i="0" u="none" strike="noStrike" kern="0" cap="none" spc="-185" normalizeH="0" baseline="0" noProof="0" dirty="0">
                <a:ln>
                  <a:noFill/>
                </a:ln>
                <a:solidFill>
                  <a:prstClr val="white"/>
                </a:solidFill>
                <a:effectLst/>
                <a:uLnTx/>
                <a:uFillTx/>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Statement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6723324-F584-9B5B-CE51-C2EF8EFD8C4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21" name="TextBox 20">
            <a:extLst>
              <a:ext uri="{FF2B5EF4-FFF2-40B4-BE49-F238E27FC236}">
                <a16:creationId xmlns:a16="http://schemas.microsoft.com/office/drawing/2014/main" id="{55E75371-54F1-B9AA-D5D0-72497A1AF2FD}"/>
              </a:ext>
            </a:extLst>
          </p:cNvPr>
          <p:cNvSpPr txBox="1"/>
          <p:nvPr/>
        </p:nvSpPr>
        <p:spPr>
          <a:xfrm>
            <a:off x="304800" y="1327957"/>
            <a:ext cx="11454377" cy="3903954"/>
          </a:xfrm>
          <a:prstGeom prst="rect">
            <a:avLst/>
          </a:prstGeom>
          <a:noFill/>
        </p:spPr>
        <p:txBody>
          <a:bodyPr wrap="square" rtlCol="0">
            <a:spAutoFit/>
          </a:bodyPr>
          <a:lstStyle/>
          <a:p>
            <a:pPr algn="just">
              <a:lnSpc>
                <a:spcPct val="150000"/>
              </a:lnSpc>
              <a:spcBef>
                <a:spcPts val="1000"/>
              </a:spcBef>
              <a:buClr>
                <a:srgbClr val="000000"/>
              </a:buClr>
            </a:pPr>
            <a:r>
              <a:rPr lang="en-US" sz="2400" dirty="0">
                <a:latin typeface="Times New Roman" panose="02020603050405020304" pitchFamily="18" charset="0"/>
                <a:cs typeface="Times New Roman" panose="02020603050405020304" pitchFamily="18" charset="0"/>
              </a:rPr>
              <a:t>Educational institutions face difficulties in manually scheduling invigilation duties. Errors such as overlapping assignments, allocation of teachers to their own subject exams, and unfair workload distribution frequently occur. Adjusting schedules during last-minute timetable changes becomes time-consuming and stressful for administrators. Additionally, there is no centralized system to track faculty availability or store past duty records. Hence, there is a need for an automated solution that handles scheduling intelligently, prevents conflicts, and improves the efficiency and accuracy of exam duty management.</a:t>
            </a:r>
            <a:endParaRPr lang="en-US" sz="2400"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460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25DD-3148-4A09-B748-D67D76B965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A18FE1-07E9-C80C-2298-AE7881E6A5E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B0AEEAC-71E2-E581-F4F9-CA74255D09FB}"/>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1895BA0D-9DB4-A2AD-878F-8732C23F7EC8}"/>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EA7E27-BB51-A220-567C-74A054E8015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771AF91-E96E-248F-207D-66225AF277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06</a:t>
            </a:r>
          </a:p>
        </p:txBody>
      </p:sp>
      <p:sp>
        <p:nvSpPr>
          <p:cNvPr id="16" name="TextBox 15">
            <a:extLst>
              <a:ext uri="{FF2B5EF4-FFF2-40B4-BE49-F238E27FC236}">
                <a16:creationId xmlns:a16="http://schemas.microsoft.com/office/drawing/2014/main" id="{42388D84-5E73-78A3-B3D1-776A62EB2F6C}"/>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0" normalizeH="0" baseline="0" noProof="0" dirty="0">
                <a:ln>
                  <a:noFill/>
                </a:ln>
                <a:solidFill>
                  <a:prstClr val="white"/>
                </a:solidFill>
                <a:effectLst/>
                <a:uLnTx/>
                <a:uFillTx/>
                <a:latin typeface="Times New Roman"/>
                <a:cs typeface="Times New Roman"/>
              </a:rPr>
              <a:t>Objectives</a:t>
            </a:r>
            <a:r>
              <a:rPr kumimoji="0" lang="en-IN" sz="4400" b="0" i="0" u="none" strike="noStrike" kern="0" cap="none" spc="-60" normalizeH="0" baseline="0" noProof="0" dirty="0">
                <a:ln>
                  <a:noFill/>
                </a:ln>
                <a:solidFill>
                  <a:prstClr val="white"/>
                </a:solidFill>
                <a:effectLst/>
                <a:uLnTx/>
                <a:uFillTx/>
                <a:latin typeface="Times New Roman"/>
                <a:cs typeface="Times New Roman"/>
              </a:rPr>
              <a:t> </a:t>
            </a:r>
            <a:r>
              <a:rPr kumimoji="0" lang="en-IN" sz="4400" b="0" i="0" u="none" strike="noStrike" kern="0" cap="none" spc="-25" normalizeH="0" baseline="0" noProof="0" dirty="0">
                <a:ln>
                  <a:noFill/>
                </a:ln>
                <a:solidFill>
                  <a:prstClr val="white"/>
                </a:solidFill>
                <a:effectLst/>
                <a:uLnTx/>
                <a:uFillTx/>
                <a:latin typeface="Times New Roman"/>
                <a:cs typeface="Times New Roman"/>
              </a:rPr>
              <a:t>of</a:t>
            </a:r>
            <a:r>
              <a:rPr lang="en-IN" sz="4400" kern="0" dirty="0">
                <a:solidFill>
                  <a:prstClr val="white"/>
                </a:solidFill>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Project</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F44853E-A66A-9639-ABFA-13128D724BB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4" name="TextBox 3">
            <a:extLst>
              <a:ext uri="{FF2B5EF4-FFF2-40B4-BE49-F238E27FC236}">
                <a16:creationId xmlns:a16="http://schemas.microsoft.com/office/drawing/2014/main" id="{11AD56AC-B380-EF8F-23EA-755194A34824}"/>
              </a:ext>
            </a:extLst>
          </p:cNvPr>
          <p:cNvSpPr txBox="1"/>
          <p:nvPr/>
        </p:nvSpPr>
        <p:spPr>
          <a:xfrm>
            <a:off x="474133" y="1490133"/>
            <a:ext cx="5638800" cy="3081867"/>
          </a:xfrm>
          <a:prstGeom prst="rect">
            <a:avLst/>
          </a:prstGeom>
          <a:noFill/>
        </p:spPr>
        <p:txBody>
          <a:bodyPr wrap="square" rtlCol="0">
            <a:spAutoFit/>
          </a:bodyPr>
          <a:lstStyle/>
          <a:p>
            <a:endParaRPr lang="en-IN" dirty="0"/>
          </a:p>
        </p:txBody>
      </p:sp>
      <p:sp>
        <p:nvSpPr>
          <p:cNvPr id="5" name="Rectangle 1">
            <a:extLst>
              <a:ext uri="{FF2B5EF4-FFF2-40B4-BE49-F238E27FC236}">
                <a16:creationId xmlns:a16="http://schemas.microsoft.com/office/drawing/2014/main" id="{0FE1123F-118F-A5C9-B3E6-649D28F279A9}"/>
              </a:ext>
            </a:extLst>
          </p:cNvPr>
          <p:cNvSpPr>
            <a:spLocks noChangeArrowheads="1"/>
          </p:cNvSpPr>
          <p:nvPr/>
        </p:nvSpPr>
        <p:spPr bwMode="auto">
          <a:xfrm>
            <a:off x="304800" y="971027"/>
            <a:ext cx="11303000"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automate the allocation of invigilation duties using a web-based scheduling system.</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fair and conflict-free distribution of duties among faculty members.</a:t>
            </a:r>
          </a:p>
          <a:p>
            <a:pPr marL="342900" lvl="0" indent="-342900" eaLnBrk="0" fontAlgn="base" hangingPunct="0">
              <a:lnSpc>
                <a:spcPct val="150000"/>
              </a:lnSpc>
              <a:spcBef>
                <a:spcPct val="0"/>
              </a:spcBef>
              <a:spcAft>
                <a:spcPct val="0"/>
              </a:spcAft>
              <a:buFont typeface="+mj-lt"/>
              <a:buAutoNum type="arabicPeriod"/>
            </a:pPr>
            <a:r>
              <a:rPr lang="en-US" sz="2400" dirty="0"/>
              <a:t>To provide instant notifications and clear automated reports, bridging the gap of poor communication in traditional methods.</a:t>
            </a:r>
          </a:p>
          <a:p>
            <a:pPr marL="342900" lvl="0" indent="-342900" eaLnBrk="0" fontAlgn="base" hangingPunct="0">
              <a:lnSpc>
                <a:spcPct val="150000"/>
              </a:lnSpc>
              <a:spcBef>
                <a:spcPct val="0"/>
              </a:spcBef>
              <a:spcAft>
                <a:spcPct val="0"/>
              </a:spcAft>
              <a:buFont typeface="+mj-lt"/>
              <a:buAutoNum type="arabicPeriod"/>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structured reports for hall-wise, date-wise, and faculty-wise duty assignments.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an integrated chatbot for answering exam and duty-related queries.</a:t>
            </a:r>
          </a:p>
        </p:txBody>
      </p:sp>
    </p:spTree>
    <p:extLst>
      <p:ext uri="{BB962C8B-B14F-4D97-AF65-F5344CB8AC3E}">
        <p14:creationId xmlns:p14="http://schemas.microsoft.com/office/powerpoint/2010/main" val="4038117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678B-DFC8-191D-FCB2-6D5941A0BC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23A26-60C2-89F8-78B8-D18526A9336B}"/>
              </a:ext>
            </a:extLst>
          </p:cNvPr>
          <p:cNvSpPr/>
          <p:nvPr/>
        </p:nvSpPr>
        <p:spPr>
          <a:xfrm>
            <a:off x="0" y="228600"/>
            <a:ext cx="12192000" cy="567267"/>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81C645C9-3233-F395-5685-F373B8FAADBD}"/>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DE22B351-9274-85EB-7C39-4A48CADD87B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E707D3F-41EC-AF1E-79AE-F4CCA105D54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9C4461-D407-8AA3-1BE4-A036EEB7AF1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07</a:t>
            </a:r>
          </a:p>
        </p:txBody>
      </p:sp>
      <p:sp>
        <p:nvSpPr>
          <p:cNvPr id="16" name="TextBox 15">
            <a:extLst>
              <a:ext uri="{FF2B5EF4-FFF2-40B4-BE49-F238E27FC236}">
                <a16:creationId xmlns:a16="http://schemas.microsoft.com/office/drawing/2014/main" id="{9F68BBDC-ADE6-791E-BC90-C581E3E07D5F}"/>
              </a:ext>
            </a:extLst>
          </p:cNvPr>
          <p:cNvSpPr txBox="1"/>
          <p:nvPr/>
        </p:nvSpPr>
        <p:spPr>
          <a:xfrm>
            <a:off x="152400" y="127512"/>
            <a:ext cx="7315200" cy="769441"/>
          </a:xfrm>
          <a:prstGeom prst="rect">
            <a:avLst/>
          </a:prstGeom>
          <a:noFill/>
        </p:spPr>
        <p:txBody>
          <a:bodyPr wrap="square" rtlCol="0">
            <a:spAutoFit/>
          </a:bodyPr>
          <a:lstStyle/>
          <a:p>
            <a:pPr marL="12700">
              <a:lnSpc>
                <a:spcPct val="100000"/>
              </a:lnSpc>
              <a:spcBef>
                <a:spcPts val="100"/>
              </a:spcBef>
            </a:pPr>
            <a:r>
              <a:rPr lang="en-IN" sz="4400" dirty="0">
                <a:solidFill>
                  <a:srgbClr val="FFFFFF"/>
                </a:solidFill>
                <a:latin typeface="Times New Roman"/>
                <a:cs typeface="Times New Roman"/>
              </a:rPr>
              <a:t>Literature</a:t>
            </a:r>
            <a:r>
              <a:rPr lang="en-IN" sz="4400" spc="-100" dirty="0">
                <a:solidFill>
                  <a:srgbClr val="FFFFFF"/>
                </a:solidFill>
                <a:latin typeface="Times New Roman"/>
                <a:cs typeface="Times New Roman"/>
              </a:rPr>
              <a:t> </a:t>
            </a:r>
            <a:r>
              <a:rPr lang="en-IN" sz="4400" spc="-10" dirty="0">
                <a:solidFill>
                  <a:srgbClr val="FFFFFF"/>
                </a:solidFill>
                <a:latin typeface="Times New Roman"/>
                <a:cs typeface="Times New Roman"/>
              </a:rPr>
              <a:t>Survey</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D51E9120-952F-8BE9-2182-E1D6B735A41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graphicFrame>
        <p:nvGraphicFramePr>
          <p:cNvPr id="4" name="Table 3">
            <a:extLst>
              <a:ext uri="{FF2B5EF4-FFF2-40B4-BE49-F238E27FC236}">
                <a16:creationId xmlns:a16="http://schemas.microsoft.com/office/drawing/2014/main" id="{E280D717-87FA-A0A0-891F-6A2B79CEEE6C}"/>
              </a:ext>
            </a:extLst>
          </p:cNvPr>
          <p:cNvGraphicFramePr>
            <a:graphicFrameLocks noGrp="1"/>
          </p:cNvGraphicFramePr>
          <p:nvPr>
            <p:extLst>
              <p:ext uri="{D42A27DB-BD31-4B8C-83A1-F6EECF244321}">
                <p14:modId xmlns:p14="http://schemas.microsoft.com/office/powerpoint/2010/main" val="4217594495"/>
              </p:ext>
            </p:extLst>
          </p:nvPr>
        </p:nvGraphicFramePr>
        <p:xfrm>
          <a:off x="152400" y="795867"/>
          <a:ext cx="11750557" cy="5853684"/>
        </p:xfrm>
        <a:graphic>
          <a:graphicData uri="http://schemas.openxmlformats.org/drawingml/2006/table">
            <a:tbl>
              <a:tblPr firstRow="1" bandRow="1"/>
              <a:tblGrid>
                <a:gridCol w="538830">
                  <a:extLst>
                    <a:ext uri="{9D8B030D-6E8A-4147-A177-3AD203B41FA5}">
                      <a16:colId xmlns:a16="http://schemas.microsoft.com/office/drawing/2014/main" val="1548781109"/>
                    </a:ext>
                  </a:extLst>
                </a:gridCol>
                <a:gridCol w="1841247">
                  <a:extLst>
                    <a:ext uri="{9D8B030D-6E8A-4147-A177-3AD203B41FA5}">
                      <a16:colId xmlns:a16="http://schemas.microsoft.com/office/drawing/2014/main" val="1924567295"/>
                    </a:ext>
                  </a:extLst>
                </a:gridCol>
                <a:gridCol w="1126147">
                  <a:extLst>
                    <a:ext uri="{9D8B030D-6E8A-4147-A177-3AD203B41FA5}">
                      <a16:colId xmlns:a16="http://schemas.microsoft.com/office/drawing/2014/main" val="690532729"/>
                    </a:ext>
                  </a:extLst>
                </a:gridCol>
                <a:gridCol w="1718734">
                  <a:extLst>
                    <a:ext uri="{9D8B030D-6E8A-4147-A177-3AD203B41FA5}">
                      <a16:colId xmlns:a16="http://schemas.microsoft.com/office/drawing/2014/main" val="1236475754"/>
                    </a:ext>
                  </a:extLst>
                </a:gridCol>
                <a:gridCol w="2523066">
                  <a:extLst>
                    <a:ext uri="{9D8B030D-6E8A-4147-A177-3AD203B41FA5}">
                      <a16:colId xmlns:a16="http://schemas.microsoft.com/office/drawing/2014/main" val="3451772229"/>
                    </a:ext>
                  </a:extLst>
                </a:gridCol>
                <a:gridCol w="2126705">
                  <a:extLst>
                    <a:ext uri="{9D8B030D-6E8A-4147-A177-3AD203B41FA5}">
                      <a16:colId xmlns:a16="http://schemas.microsoft.com/office/drawing/2014/main" val="3181121405"/>
                    </a:ext>
                  </a:extLst>
                </a:gridCol>
                <a:gridCol w="1875828">
                  <a:extLst>
                    <a:ext uri="{9D8B030D-6E8A-4147-A177-3AD203B41FA5}">
                      <a16:colId xmlns:a16="http://schemas.microsoft.com/office/drawing/2014/main" val="2647058233"/>
                    </a:ext>
                  </a:extLst>
                </a:gridCol>
              </a:tblGrid>
              <a:tr h="0">
                <a:tc>
                  <a:txBody>
                    <a:bodyPr/>
                    <a:lstStyle/>
                    <a:p>
                      <a:pPr algn="l">
                        <a:buNone/>
                      </a:pPr>
                      <a:r>
                        <a:rPr lang="en-IN" sz="1200" b="1" dirty="0">
                          <a:latin typeface="Times New Roman" panose="02020603050405020304" pitchFamily="18" charset="0"/>
                          <a:cs typeface="Times New Roman" panose="02020603050405020304" pitchFamily="18" charset="0"/>
                        </a:rPr>
                        <a:t>No</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a:latin typeface="Times New Roman" panose="02020603050405020304" pitchFamily="18" charset="0"/>
                          <a:cs typeface="Times New Roman" panose="02020603050405020304" pitchFamily="18" charset="0"/>
                        </a:rPr>
                        <a:t>Title</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dirty="0">
                          <a:latin typeface="Times New Roman" panose="02020603050405020304" pitchFamily="18" charset="0"/>
                          <a:cs typeface="Times New Roman" panose="02020603050405020304" pitchFamily="18" charset="0"/>
                        </a:rPr>
                        <a:t>Author</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dirty="0">
                          <a:latin typeface="Times New Roman" panose="02020603050405020304" pitchFamily="18" charset="0"/>
                          <a:cs typeface="Times New Roman" panose="02020603050405020304" pitchFamily="18" charset="0"/>
                        </a:rPr>
                        <a:t>Journal Name &amp; Year</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dirty="0">
                          <a:latin typeface="Times New Roman" panose="02020603050405020304" pitchFamily="18" charset="0"/>
                          <a:cs typeface="Times New Roman" panose="02020603050405020304" pitchFamily="18" charset="0"/>
                        </a:rPr>
                        <a:t>Methodology Adapted</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dirty="0">
                          <a:latin typeface="Times New Roman" panose="02020603050405020304" pitchFamily="18" charset="0"/>
                          <a:cs typeface="Times New Roman" panose="02020603050405020304" pitchFamily="18" charset="0"/>
                        </a:rPr>
                        <a:t>Key Findings</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tc>
                  <a:txBody>
                    <a:bodyPr/>
                    <a:lstStyle/>
                    <a:p>
                      <a:pPr algn="l">
                        <a:buNone/>
                      </a:pPr>
                      <a:r>
                        <a:rPr lang="en-IN" sz="1200" b="1">
                          <a:latin typeface="Times New Roman" panose="02020603050405020304" pitchFamily="18" charset="0"/>
                          <a:cs typeface="Times New Roman" panose="02020603050405020304" pitchFamily="18" charset="0"/>
                        </a:rPr>
                        <a:t>Gaps Identified</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accent2">
                        <a:lumMod val="60000"/>
                        <a:lumOff val="40000"/>
                      </a:schemeClr>
                    </a:solidFill>
                  </a:tcPr>
                </a:tc>
                <a:extLst>
                  <a:ext uri="{0D108BD9-81ED-4DB2-BD59-A6C34878D82A}">
                    <a16:rowId xmlns:a16="http://schemas.microsoft.com/office/drawing/2014/main" val="1718084961"/>
                  </a:ext>
                </a:extLst>
              </a:tr>
              <a:tr h="0">
                <a:tc>
                  <a:txBody>
                    <a:bodyPr/>
                    <a:lstStyle/>
                    <a:p>
                      <a:pPr algn="l">
                        <a:buNone/>
                      </a:pPr>
                      <a:r>
                        <a:rPr lang="en-IN" sz="1200" b="1" dirty="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Online Hall Allocation System (OHAS) for Improved Examination Centre Scheduling</a:t>
                      </a:r>
                    </a:p>
                  </a:txBody>
                  <a:tcPr marL="91694" marR="91694" marT="45847" marB="45847" anchor="ctr">
                    <a:solidFill>
                      <a:schemeClr val="bg1"/>
                    </a:solidFill>
                  </a:tcPr>
                </a:tc>
                <a:tc>
                  <a:txBody>
                    <a:bodyPr/>
                    <a:lstStyle/>
                    <a:p>
                      <a:pPr algn="l">
                        <a:buNone/>
                      </a:pPr>
                      <a:r>
                        <a:rPr lang="en-IN" sz="1200" dirty="0">
                          <a:latin typeface="Times New Roman" panose="02020603050405020304" pitchFamily="18" charset="0"/>
                          <a:cs typeface="Times New Roman" panose="02020603050405020304" pitchFamily="18" charset="0"/>
                        </a:rPr>
                        <a:t>A. Sharma</a:t>
                      </a:r>
                    </a:p>
                  </a:txBody>
                  <a:tcPr marL="91694" marR="91694" marT="45847" marB="45847" anchor="ctr">
                    <a:solidFill>
                      <a:schemeClr val="bg1"/>
                    </a:solidFill>
                  </a:tcPr>
                </a:tc>
                <a:tc>
                  <a:txBody>
                    <a:bodyPr/>
                    <a:lstStyle/>
                    <a:p>
                      <a:pPr algn="l">
                        <a:buNone/>
                      </a:pPr>
                      <a:r>
                        <a:rPr lang="en-IN" sz="1200">
                          <a:latin typeface="Times New Roman" panose="02020603050405020304" pitchFamily="18" charset="0"/>
                          <a:cs typeface="Times New Roman" panose="02020603050405020304" pitchFamily="18" charset="0"/>
                        </a:rPr>
                        <a:t>Intl. Conf. Proc., 2024</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Designed a </a:t>
                      </a:r>
                      <a:r>
                        <a:rPr lang="en-US" sz="1200" b="1" dirty="0">
                          <a:latin typeface="Times New Roman" panose="02020603050405020304" pitchFamily="18" charset="0"/>
                          <a:cs typeface="Times New Roman" panose="02020603050405020304" pitchFamily="18" charset="0"/>
                        </a:rPr>
                        <a:t>web-based hall allocation system</a:t>
                      </a:r>
                      <a:r>
                        <a:rPr lang="en-US" sz="1200" dirty="0">
                          <a:latin typeface="Times New Roman" panose="02020603050405020304" pitchFamily="18" charset="0"/>
                          <a:cs typeface="Times New Roman" panose="02020603050405020304" pitchFamily="18" charset="0"/>
                        </a:rPr>
                        <a:t> that selects hall combinations and generates seating plans through a browser interface. (</a:t>
                      </a:r>
                      <a:r>
                        <a:rPr lang="en-US" sz="1200" dirty="0">
                          <a:latin typeface="Times New Roman" panose="02020603050405020304" pitchFamily="18" charset="0"/>
                          <a:cs typeface="Times New Roman" panose="02020603050405020304" pitchFamily="18" charset="0"/>
                          <a:hlinkClick r:id="rId3" tooltip="(PDF) Online Hall Allocation System (OHAS) for Improved ..."/>
                        </a:rPr>
                        <a:t>ResearchGate</a:t>
                      </a:r>
                      <a:r>
                        <a:rPr lang="en-US" sz="1200" dirty="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Reduced manual work and errors in hall selection; improved utilization of room capacity.</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Focuses only on halls and seats; </a:t>
                      </a:r>
                      <a:r>
                        <a:rPr lang="en-US" sz="1200" b="1">
                          <a:latin typeface="Times New Roman" panose="02020603050405020304" pitchFamily="18" charset="0"/>
                          <a:cs typeface="Times New Roman" panose="02020603050405020304" pitchFamily="18" charset="0"/>
                        </a:rPr>
                        <a:t>no invigilator duty allocation</a:t>
                      </a:r>
                      <a:r>
                        <a:rPr lang="en-US" sz="1200">
                          <a:latin typeface="Times New Roman" panose="02020603050405020304" pitchFamily="18" charset="0"/>
                          <a:cs typeface="Times New Roman" panose="02020603050405020304" pitchFamily="18" charset="0"/>
                        </a:rPr>
                        <a:t> or staff-wise workload balancing. (</a:t>
                      </a:r>
                      <a:r>
                        <a:rPr lang="en-US" sz="1200">
                          <a:latin typeface="Times New Roman" panose="02020603050405020304" pitchFamily="18" charset="0"/>
                          <a:cs typeface="Times New Roman" panose="02020603050405020304" pitchFamily="18" charset="0"/>
                          <a:hlinkClick r:id="rId3" tooltip="(PDF) Online Hall Allocation System (OHAS) for Improved ..."/>
                        </a:rPr>
                        <a:t>ResearchGate</a:t>
                      </a:r>
                      <a:r>
                        <a:rPr lang="en-US" sz="120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extLst>
                  <a:ext uri="{0D108BD9-81ED-4DB2-BD59-A6C34878D82A}">
                    <a16:rowId xmlns:a16="http://schemas.microsoft.com/office/drawing/2014/main" val="2922292627"/>
                  </a:ext>
                </a:extLst>
              </a:tr>
              <a:tr h="0">
                <a:tc>
                  <a:txBody>
                    <a:bodyPr/>
                    <a:lstStyle/>
                    <a:p>
                      <a:pPr algn="l">
                        <a:buNone/>
                      </a:pPr>
                      <a:r>
                        <a:rPr lang="en-IN" sz="1200" b="1">
                          <a:latin typeface="Times New Roman" panose="02020603050405020304" pitchFamily="18" charset="0"/>
                          <a:cs typeface="Times New Roman" panose="02020603050405020304" pitchFamily="18" charset="0"/>
                        </a:rPr>
                        <a:t>2</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Development of Web Based Examination Timetable Management and Reporting System</a:t>
                      </a:r>
                    </a:p>
                  </a:txBody>
                  <a:tcPr marL="91694" marR="91694" marT="45847" marB="45847" anchor="ctr">
                    <a:solidFill>
                      <a:schemeClr val="bg1"/>
                    </a:solidFill>
                  </a:tcPr>
                </a:tc>
                <a:tc>
                  <a:txBody>
                    <a:bodyPr/>
                    <a:lstStyle/>
                    <a:p>
                      <a:pPr algn="l">
                        <a:buNone/>
                      </a:pPr>
                      <a:r>
                        <a:rPr lang="en-IN" sz="1200" dirty="0">
                          <a:latin typeface="Times New Roman" panose="02020603050405020304" pitchFamily="18" charset="0"/>
                          <a:cs typeface="Times New Roman" panose="02020603050405020304" pitchFamily="18" charset="0"/>
                        </a:rPr>
                        <a:t>O. Akinola</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Web Based Exam Timetable Mgmt., 2024</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Implemented a </a:t>
                      </a:r>
                      <a:r>
                        <a:rPr lang="en-US" sz="1200" b="1" dirty="0">
                          <a:latin typeface="Times New Roman" panose="02020603050405020304" pitchFamily="18" charset="0"/>
                          <a:cs typeface="Times New Roman" panose="02020603050405020304" pitchFamily="18" charset="0"/>
                        </a:rPr>
                        <a:t>web application</a:t>
                      </a:r>
                      <a:r>
                        <a:rPr lang="en-US" sz="1200" dirty="0">
                          <a:latin typeface="Times New Roman" panose="02020603050405020304" pitchFamily="18" charset="0"/>
                          <a:cs typeface="Times New Roman" panose="02020603050405020304" pitchFamily="18" charset="0"/>
                        </a:rPr>
                        <a:t> that generates exam timetables, assigns invigilators and produces reports for admins. (</a:t>
                      </a:r>
                      <a:r>
                        <a:rPr lang="en-US" sz="1200" dirty="0">
                          <a:latin typeface="Times New Roman" panose="02020603050405020304" pitchFamily="18" charset="0"/>
                          <a:cs typeface="Times New Roman" panose="02020603050405020304" pitchFamily="18" charset="0"/>
                          <a:hlinkClick r:id="rId4" tooltip="(PDF) Development of Web Based Examination Timetable ..."/>
                        </a:rPr>
                        <a:t>ResearchGate</a:t>
                      </a:r>
                      <a:r>
                        <a:rPr lang="en-US" sz="1200" dirty="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Automated timetable and basic invigilation assignment; centralized exam data and reporting.</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Limited constraint handling (no distance / nearest-faculty logic); </a:t>
                      </a:r>
                      <a:r>
                        <a:rPr lang="en-US" sz="1200" b="1">
                          <a:latin typeface="Times New Roman" panose="02020603050405020304" pitchFamily="18" charset="0"/>
                          <a:cs typeface="Times New Roman" panose="02020603050405020304" pitchFamily="18" charset="0"/>
                        </a:rPr>
                        <a:t>no real-time re-assignment</a:t>
                      </a:r>
                      <a:r>
                        <a:rPr lang="en-US" sz="1200">
                          <a:latin typeface="Times New Roman" panose="02020603050405020304" pitchFamily="18" charset="0"/>
                          <a:cs typeface="Times New Roman" panose="02020603050405020304" pitchFamily="18" charset="0"/>
                        </a:rPr>
                        <a:t> or chatbot help for staff queries. (</a:t>
                      </a:r>
                      <a:r>
                        <a:rPr lang="en-US" sz="1200">
                          <a:latin typeface="Times New Roman" panose="02020603050405020304" pitchFamily="18" charset="0"/>
                          <a:cs typeface="Times New Roman" panose="02020603050405020304" pitchFamily="18" charset="0"/>
                          <a:hlinkClick r:id="rId4" tooltip="(PDF) Development of Web Based Examination Timetable ..."/>
                        </a:rPr>
                        <a:t>ResearchGate</a:t>
                      </a:r>
                      <a:r>
                        <a:rPr lang="en-US" sz="120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extLst>
                  <a:ext uri="{0D108BD9-81ED-4DB2-BD59-A6C34878D82A}">
                    <a16:rowId xmlns:a16="http://schemas.microsoft.com/office/drawing/2014/main" val="1616849960"/>
                  </a:ext>
                </a:extLst>
              </a:tr>
              <a:tr h="0">
                <a:tc>
                  <a:txBody>
                    <a:bodyPr/>
                    <a:lstStyle/>
                    <a:p>
                      <a:pPr algn="l">
                        <a:buNone/>
                      </a:pPr>
                      <a:r>
                        <a:rPr lang="en-IN" sz="1200" b="1">
                          <a:latin typeface="Times New Roman" panose="02020603050405020304" pitchFamily="18" charset="0"/>
                          <a:cs typeface="Times New Roman" panose="02020603050405020304" pitchFamily="18" charset="0"/>
                        </a:rPr>
                        <a:t>3</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Exam Seating Arrangement System (Web-Based)</a:t>
                      </a:r>
                    </a:p>
                  </a:txBody>
                  <a:tcPr marL="91694" marR="91694" marT="45847" marB="45847" anchor="ctr">
                    <a:solidFill>
                      <a:schemeClr val="bg1"/>
                    </a:solidFill>
                  </a:tcPr>
                </a:tc>
                <a:tc>
                  <a:txBody>
                    <a:bodyPr/>
                    <a:lstStyle/>
                    <a:p>
                      <a:pPr algn="l">
                        <a:buNone/>
                      </a:pPr>
                      <a:r>
                        <a:rPr lang="en-IN" sz="1200" dirty="0">
                          <a:latin typeface="Times New Roman" panose="02020603050405020304" pitchFamily="18" charset="0"/>
                          <a:cs typeface="Times New Roman" panose="02020603050405020304" pitchFamily="18" charset="0"/>
                        </a:rPr>
                        <a:t>P. </a:t>
                      </a:r>
                      <a:r>
                        <a:rPr lang="en-IN" sz="1200" dirty="0" err="1">
                          <a:latin typeface="Times New Roman" panose="02020603050405020304" pitchFamily="18" charset="0"/>
                          <a:cs typeface="Times New Roman" panose="02020603050405020304" pitchFamily="18" charset="0"/>
                        </a:rPr>
                        <a:t>Pathari</a:t>
                      </a:r>
                      <a:endParaRPr lang="en-IN" sz="1200" dirty="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IN" sz="1200" dirty="0">
                          <a:latin typeface="Times New Roman" panose="02020603050405020304" pitchFamily="18" charset="0"/>
                          <a:cs typeface="Times New Roman" panose="02020603050405020304" pitchFamily="18" charset="0"/>
                        </a:rPr>
                        <a:t>IRJET, 2024</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Built a </a:t>
                      </a:r>
                      <a:r>
                        <a:rPr lang="en-US" sz="1200" b="1" dirty="0">
                          <a:latin typeface="Times New Roman" panose="02020603050405020304" pitchFamily="18" charset="0"/>
                          <a:cs typeface="Times New Roman" panose="02020603050405020304" pitchFamily="18" charset="0"/>
                        </a:rPr>
                        <a:t>browser-based seating system</a:t>
                      </a:r>
                      <a:r>
                        <a:rPr lang="en-US" sz="1200" dirty="0">
                          <a:latin typeface="Times New Roman" panose="02020603050405020304" pitchFamily="18" charset="0"/>
                          <a:cs typeface="Times New Roman" panose="02020603050405020304" pitchFamily="18" charset="0"/>
                        </a:rPr>
                        <a:t> that generates hall-wise seat lists with date, time and subject details for students and staff. (</a:t>
                      </a:r>
                      <a:r>
                        <a:rPr lang="en-US" sz="1200" dirty="0">
                          <a:latin typeface="Times New Roman" panose="02020603050405020304" pitchFamily="18" charset="0"/>
                          <a:cs typeface="Times New Roman" panose="02020603050405020304" pitchFamily="18" charset="0"/>
                          <a:hlinkClick r:id="rId5" tooltip="Automatic Seating Arrangement and Supervision System ..."/>
                        </a:rPr>
                        <a:t>IRJET</a:t>
                      </a:r>
                      <a:r>
                        <a:rPr lang="en-US" sz="1200" dirty="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Simplified generation of seating charts and reduced last-minute confusion for students.</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Does not allocate </a:t>
                      </a:r>
                      <a:r>
                        <a:rPr lang="en-US" sz="1200" b="1">
                          <a:latin typeface="Times New Roman" panose="02020603050405020304" pitchFamily="18" charset="0"/>
                          <a:cs typeface="Times New Roman" panose="02020603050405020304" pitchFamily="18" charset="0"/>
                        </a:rPr>
                        <a:t>invigilation duties</a:t>
                      </a:r>
                      <a:r>
                        <a:rPr lang="en-US" sz="1200">
                          <a:latin typeface="Times New Roman" panose="02020603050405020304" pitchFamily="18" charset="0"/>
                          <a:cs typeface="Times New Roman" panose="02020603050405020304" pitchFamily="18" charset="0"/>
                        </a:rPr>
                        <a:t>; no fairness rules or faculty-wise duty summary; no chatbot interface. (</a:t>
                      </a:r>
                      <a:r>
                        <a:rPr lang="en-US" sz="1200">
                          <a:latin typeface="Times New Roman" panose="02020603050405020304" pitchFamily="18" charset="0"/>
                          <a:cs typeface="Times New Roman" panose="02020603050405020304" pitchFamily="18" charset="0"/>
                          <a:hlinkClick r:id="rId5" tooltip="Automatic Seating Arrangement and Supervision System ..."/>
                        </a:rPr>
                        <a:t>IRJET</a:t>
                      </a:r>
                      <a:r>
                        <a:rPr lang="en-US" sz="120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extLst>
                  <a:ext uri="{0D108BD9-81ED-4DB2-BD59-A6C34878D82A}">
                    <a16:rowId xmlns:a16="http://schemas.microsoft.com/office/drawing/2014/main" val="3320058176"/>
                  </a:ext>
                </a:extLst>
              </a:tr>
              <a:tr h="0">
                <a:tc>
                  <a:txBody>
                    <a:bodyPr/>
                    <a:lstStyle/>
                    <a:p>
                      <a:pPr algn="l">
                        <a:buNone/>
                      </a:pPr>
                      <a:r>
                        <a:rPr lang="en-IN" sz="1200" b="1">
                          <a:latin typeface="Times New Roman" panose="02020603050405020304" pitchFamily="18" charset="0"/>
                          <a:cs typeface="Times New Roman" panose="02020603050405020304" pitchFamily="18" charset="0"/>
                        </a:rPr>
                        <a:t>4</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Dynamic Exam Seating &amp; Invigilation Management (Web App)</a:t>
                      </a:r>
                    </a:p>
                  </a:txBody>
                  <a:tcPr marL="91694" marR="91694" marT="45847" marB="45847" anchor="ctr">
                    <a:solidFill>
                      <a:schemeClr val="bg1"/>
                    </a:solidFill>
                  </a:tcPr>
                </a:tc>
                <a:tc>
                  <a:txBody>
                    <a:bodyPr/>
                    <a:lstStyle/>
                    <a:p>
                      <a:pPr algn="l">
                        <a:buNone/>
                      </a:pPr>
                      <a:r>
                        <a:rPr lang="en-IN" sz="1200" dirty="0">
                          <a:latin typeface="Times New Roman" panose="02020603050405020304" pitchFamily="18" charset="0"/>
                          <a:cs typeface="Times New Roman" panose="02020603050405020304" pitchFamily="18" charset="0"/>
                        </a:rPr>
                        <a:t>S. Singh &amp; M. Sharma</a:t>
                      </a:r>
                    </a:p>
                  </a:txBody>
                  <a:tcPr marL="91694" marR="91694" marT="45847" marB="45847" anchor="ctr">
                    <a:solidFill>
                      <a:schemeClr val="bg1"/>
                    </a:solidFill>
                  </a:tcPr>
                </a:tc>
                <a:tc>
                  <a:txBody>
                    <a:bodyPr/>
                    <a:lstStyle/>
                    <a:p>
                      <a:pPr algn="l">
                        <a:buNone/>
                      </a:pPr>
                      <a:r>
                        <a:rPr lang="en-IN" sz="1200">
                          <a:latin typeface="Times New Roman" panose="02020603050405020304" pitchFamily="18" charset="0"/>
                          <a:cs typeface="Times New Roman" panose="02020603050405020304" pitchFamily="18" charset="0"/>
                        </a:rPr>
                        <a:t>IJCRT, 2025</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Proposed a </a:t>
                      </a:r>
                      <a:r>
                        <a:rPr lang="en-US" sz="1200" b="1" dirty="0">
                          <a:latin typeface="Times New Roman" panose="02020603050405020304" pitchFamily="18" charset="0"/>
                          <a:cs typeface="Times New Roman" panose="02020603050405020304" pitchFamily="18" charset="0"/>
                        </a:rPr>
                        <a:t>web-based exam seating &amp; invigilation module</a:t>
                      </a:r>
                      <a:r>
                        <a:rPr lang="en-US" sz="1200" dirty="0">
                          <a:latin typeface="Times New Roman" panose="02020603050405020304" pitchFamily="18" charset="0"/>
                          <a:cs typeface="Times New Roman" panose="02020603050405020304" pitchFamily="18" charset="0"/>
                        </a:rPr>
                        <a:t> using MySQL and role-based logins for admin and staff. (</a:t>
                      </a:r>
                      <a:r>
                        <a:rPr lang="en-US" sz="1200" dirty="0">
                          <a:latin typeface="Times New Roman" panose="02020603050405020304" pitchFamily="18" charset="0"/>
                          <a:cs typeface="Times New Roman" panose="02020603050405020304" pitchFamily="18" charset="0"/>
                          <a:hlinkClick r:id="rId6" tooltip="Final Year Exam Seating Arrangement System"/>
                        </a:rPr>
                        <a:t>IJCRT</a:t>
                      </a:r>
                      <a:r>
                        <a:rPr lang="en-US" sz="1200" dirty="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Reduced manual scheduling effort; provided online access to hall and duty information.</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Invigilation logic is still basic (no consideration of </a:t>
                      </a:r>
                      <a:r>
                        <a:rPr lang="en-US" sz="1200" b="1">
                          <a:latin typeface="Times New Roman" panose="02020603050405020304" pitchFamily="18" charset="0"/>
                          <a:cs typeface="Times New Roman" panose="02020603050405020304" pitchFamily="18" charset="0"/>
                        </a:rPr>
                        <a:t>faculty location / nearest block</a:t>
                      </a:r>
                      <a:r>
                        <a:rPr lang="en-US" sz="1200">
                          <a:latin typeface="Times New Roman" panose="02020603050405020304" pitchFamily="18" charset="0"/>
                          <a:cs typeface="Times New Roman" panose="02020603050405020304" pitchFamily="18" charset="0"/>
                        </a:rPr>
                        <a:t>); lacks analytics dashboards and automated conflict checking. (</a:t>
                      </a:r>
                      <a:r>
                        <a:rPr lang="en-US" sz="1200">
                          <a:latin typeface="Times New Roman" panose="02020603050405020304" pitchFamily="18" charset="0"/>
                          <a:cs typeface="Times New Roman" panose="02020603050405020304" pitchFamily="18" charset="0"/>
                          <a:hlinkClick r:id="rId6" tooltip="Final Year Exam Seating Arrangement System"/>
                        </a:rPr>
                        <a:t>IJCRT</a:t>
                      </a:r>
                      <a:r>
                        <a:rPr lang="en-US" sz="120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extLst>
                  <a:ext uri="{0D108BD9-81ED-4DB2-BD59-A6C34878D82A}">
                    <a16:rowId xmlns:a16="http://schemas.microsoft.com/office/drawing/2014/main" val="2280684091"/>
                  </a:ext>
                </a:extLst>
              </a:tr>
              <a:tr h="0">
                <a:tc>
                  <a:txBody>
                    <a:bodyPr/>
                    <a:lstStyle/>
                    <a:p>
                      <a:pPr algn="l">
                        <a:buNone/>
                      </a:pPr>
                      <a:r>
                        <a:rPr lang="en-IN" sz="1200" b="1">
                          <a:latin typeface="Times New Roman" panose="02020603050405020304" pitchFamily="18" charset="0"/>
                          <a:cs typeface="Times New Roman" panose="02020603050405020304" pitchFamily="18" charset="0"/>
                        </a:rPr>
                        <a:t>5</a:t>
                      </a:r>
                      <a:endParaRPr lang="en-IN" sz="1200">
                        <a:latin typeface="Times New Roman" panose="02020603050405020304" pitchFamily="18" charset="0"/>
                        <a:cs typeface="Times New Roman" panose="02020603050405020304" pitchFamily="18" charset="0"/>
                      </a:endParaRP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Chatbot Student Support System in Open and Distance Learning</a:t>
                      </a:r>
                    </a:p>
                  </a:txBody>
                  <a:tcPr marL="91694" marR="91694" marT="45847" marB="45847" anchor="ctr">
                    <a:solidFill>
                      <a:schemeClr val="bg1"/>
                    </a:solidFill>
                  </a:tcPr>
                </a:tc>
                <a:tc>
                  <a:txBody>
                    <a:bodyPr/>
                    <a:lstStyle/>
                    <a:p>
                      <a:pPr algn="l">
                        <a:buNone/>
                      </a:pPr>
                      <a:r>
                        <a:rPr lang="da-DK" sz="1200" dirty="0">
                          <a:latin typeface="Times New Roman" panose="02020603050405020304" pitchFamily="18" charset="0"/>
                          <a:cs typeface="Times New Roman" panose="02020603050405020304" pitchFamily="18" charset="0"/>
                        </a:rPr>
                        <a:t>J. N. Ndunagu</a:t>
                      </a:r>
                    </a:p>
                  </a:txBody>
                  <a:tcPr marL="91694" marR="91694" marT="45847" marB="45847" anchor="ctr">
                    <a:solidFill>
                      <a:schemeClr val="bg1"/>
                    </a:solidFill>
                  </a:tcPr>
                </a:tc>
                <a:tc>
                  <a:txBody>
                    <a:bodyPr/>
                    <a:lstStyle/>
                    <a:p>
                      <a:pPr algn="l">
                        <a:buNone/>
                      </a:pPr>
                      <a:r>
                        <a:rPr lang="en-IN" sz="1200" i="1">
                          <a:latin typeface="Times New Roman" panose="02020603050405020304" pitchFamily="18" charset="0"/>
                          <a:cs typeface="Times New Roman" panose="02020603050405020304" pitchFamily="18" charset="0"/>
                        </a:rPr>
                        <a:t>Computers</a:t>
                      </a:r>
                      <a:r>
                        <a:rPr lang="en-IN" sz="1200">
                          <a:latin typeface="Times New Roman" panose="02020603050405020304" pitchFamily="18" charset="0"/>
                          <a:cs typeface="Times New Roman" panose="02020603050405020304" pitchFamily="18" charset="0"/>
                        </a:rPr>
                        <a:t>, 2025</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Deployed a </a:t>
                      </a:r>
                      <a:r>
                        <a:rPr lang="en-US" sz="1200" b="1">
                          <a:latin typeface="Times New Roman" panose="02020603050405020304" pitchFamily="18" charset="0"/>
                          <a:cs typeface="Times New Roman" panose="02020603050405020304" pitchFamily="18" charset="0"/>
                        </a:rPr>
                        <a:t>web-accessible AI chatbot</a:t>
                      </a:r>
                      <a:r>
                        <a:rPr lang="en-US" sz="1200">
                          <a:latin typeface="Times New Roman" panose="02020603050405020304" pitchFamily="18" charset="0"/>
                          <a:cs typeface="Times New Roman" panose="02020603050405020304" pitchFamily="18" charset="0"/>
                        </a:rPr>
                        <a:t> integrated with academic systems to answer administrative and academic queries of students. (</a:t>
                      </a:r>
                      <a:r>
                        <a:rPr lang="en-US" sz="1200">
                          <a:latin typeface="Times New Roman" panose="02020603050405020304" pitchFamily="18" charset="0"/>
                          <a:cs typeface="Times New Roman" panose="02020603050405020304" pitchFamily="18" charset="0"/>
                          <a:hlinkClick r:id="rId7" tooltip="A Chatbot Student Support System in Open and Distance ..."/>
                        </a:rPr>
                        <a:t>MDPI</a:t>
                      </a:r>
                      <a:r>
                        <a:rPr lang="en-US" sz="120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tc>
                  <a:txBody>
                    <a:bodyPr/>
                    <a:lstStyle/>
                    <a:p>
                      <a:pPr algn="l">
                        <a:buNone/>
                      </a:pPr>
                      <a:r>
                        <a:rPr lang="en-US" sz="1200">
                          <a:latin typeface="Times New Roman" panose="02020603050405020304" pitchFamily="18" charset="0"/>
                          <a:cs typeface="Times New Roman" panose="02020603050405020304" pitchFamily="18" charset="0"/>
                        </a:rPr>
                        <a:t>Majority of users reported the chatbot as highly helpful; improved response time and reduced staff burden.</a:t>
                      </a:r>
                    </a:p>
                  </a:txBody>
                  <a:tcPr marL="91694" marR="91694" marT="45847" marB="45847" anchor="ctr">
                    <a:solidFill>
                      <a:schemeClr val="bg1"/>
                    </a:solidFill>
                  </a:tcPr>
                </a:tc>
                <a:tc>
                  <a:txBody>
                    <a:bodyPr/>
                    <a:lstStyle/>
                    <a:p>
                      <a:pPr algn="l">
                        <a:buNone/>
                      </a:pPr>
                      <a:r>
                        <a:rPr lang="en-US" sz="1200" dirty="0">
                          <a:latin typeface="Times New Roman" panose="02020603050405020304" pitchFamily="18" charset="0"/>
                          <a:cs typeface="Times New Roman" panose="02020603050405020304" pitchFamily="18" charset="0"/>
                        </a:rPr>
                        <a:t>Designed for general academic support only; </a:t>
                      </a:r>
                      <a:r>
                        <a:rPr lang="en-US" sz="1200" b="1" dirty="0">
                          <a:latin typeface="Times New Roman" panose="02020603050405020304" pitchFamily="18" charset="0"/>
                          <a:cs typeface="Times New Roman" panose="02020603050405020304" pitchFamily="18" charset="0"/>
                        </a:rPr>
                        <a:t>not connected to invigilation or exam duty workflows</a:t>
                      </a:r>
                      <a:r>
                        <a:rPr lang="en-US" sz="1200" dirty="0">
                          <a:latin typeface="Times New Roman" panose="02020603050405020304" pitchFamily="18" charset="0"/>
                          <a:cs typeface="Times New Roman" panose="02020603050405020304" pitchFamily="18" charset="0"/>
                        </a:rPr>
                        <a:t>, and no faculty-side features. (</a:t>
                      </a:r>
                      <a:r>
                        <a:rPr lang="en-US" sz="1200" dirty="0">
                          <a:latin typeface="Times New Roman" panose="02020603050405020304" pitchFamily="18" charset="0"/>
                          <a:cs typeface="Times New Roman" panose="02020603050405020304" pitchFamily="18" charset="0"/>
                          <a:hlinkClick r:id="rId7" tooltip="A Chatbot Student Support System in Open and Distance ..."/>
                        </a:rPr>
                        <a:t>MDPI</a:t>
                      </a:r>
                      <a:r>
                        <a:rPr lang="en-US" sz="1200" dirty="0">
                          <a:latin typeface="Times New Roman" panose="02020603050405020304" pitchFamily="18" charset="0"/>
                          <a:cs typeface="Times New Roman" panose="02020603050405020304" pitchFamily="18" charset="0"/>
                        </a:rPr>
                        <a:t>)</a:t>
                      </a:r>
                    </a:p>
                  </a:txBody>
                  <a:tcPr marL="91694" marR="91694" marT="45847" marB="45847" anchor="ctr">
                    <a:solidFill>
                      <a:schemeClr val="bg1"/>
                    </a:solidFill>
                  </a:tcPr>
                </a:tc>
                <a:extLst>
                  <a:ext uri="{0D108BD9-81ED-4DB2-BD59-A6C34878D82A}">
                    <a16:rowId xmlns:a16="http://schemas.microsoft.com/office/drawing/2014/main" val="831031251"/>
                  </a:ext>
                </a:extLst>
              </a:tr>
            </a:tbl>
          </a:graphicData>
        </a:graphic>
      </p:graphicFrame>
    </p:spTree>
    <p:extLst>
      <p:ext uri="{BB962C8B-B14F-4D97-AF65-F5344CB8AC3E}">
        <p14:creationId xmlns:p14="http://schemas.microsoft.com/office/powerpoint/2010/main" val="4160059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F7629-6BEF-E7E0-B77A-788A6AEA157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49171A-F8E8-389C-8641-A81CC0139DA0}"/>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2E561DB-06AC-CAD6-9CE0-D87452819C84}"/>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1994F818-0C4D-7E8E-2500-C153117E38C9}"/>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7AE9643-70AF-424D-26D3-F417B7B9B3B3}"/>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AF4F225-D6E0-E3BB-87D6-E15B1B56311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08</a:t>
            </a:r>
          </a:p>
        </p:txBody>
      </p:sp>
      <p:sp>
        <p:nvSpPr>
          <p:cNvPr id="16" name="TextBox 15">
            <a:extLst>
              <a:ext uri="{FF2B5EF4-FFF2-40B4-BE49-F238E27FC236}">
                <a16:creationId xmlns:a16="http://schemas.microsoft.com/office/drawing/2014/main" id="{B1A146A3-F544-2032-AFCC-5997DA3ED37E}"/>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Proposed</a:t>
            </a:r>
            <a:r>
              <a:rPr lang="en-IN" sz="4400" kern="0" dirty="0">
                <a:solidFill>
                  <a:prstClr val="white"/>
                </a:solidFill>
                <a:latin typeface="Times New Roman"/>
                <a:cs typeface="Times New Roman"/>
              </a:rPr>
              <a:t> </a:t>
            </a:r>
            <a:r>
              <a:rPr kumimoji="0" lang="en-IN" sz="4400" b="0" i="0" u="none" strike="noStrike" kern="0" cap="none" spc="-10" normalizeH="0" baseline="0" noProof="0" dirty="0">
                <a:ln>
                  <a:noFill/>
                </a:ln>
                <a:solidFill>
                  <a:prstClr val="white"/>
                </a:solidFill>
                <a:effectLst/>
                <a:uLnTx/>
                <a:uFillTx/>
                <a:latin typeface="Times New Roman"/>
                <a:cs typeface="Times New Roman"/>
              </a:rPr>
              <a:t>System</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0E33571-B37A-2348-E198-0D217F27D2FD}"/>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21" name="TextBox 20">
            <a:extLst>
              <a:ext uri="{FF2B5EF4-FFF2-40B4-BE49-F238E27FC236}">
                <a16:creationId xmlns:a16="http://schemas.microsoft.com/office/drawing/2014/main" id="{4CFA32F6-60D9-1C23-976C-BAB5530FEC17}"/>
              </a:ext>
            </a:extLst>
          </p:cNvPr>
          <p:cNvSpPr txBox="1"/>
          <p:nvPr/>
        </p:nvSpPr>
        <p:spPr>
          <a:xfrm>
            <a:off x="304800" y="1327958"/>
            <a:ext cx="11454378" cy="4457952"/>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The proposed system will operate using the following workflow:</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Collect faculty details such as availability, subjects, and workload.</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Upload the exam timetable including dates, rooms, and exam sessions.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Automatically allocate invigilation duties using rule-based scheduling.</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Detect and prevent conflicts such as overlapping duties or subject-based restrictions.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Send automated duty notifications to faculty members.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 hall-wise, date-wise, and faculty-wise reports.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 all duty logs for future reference and audit purposes.</a:t>
            </a:r>
          </a:p>
        </p:txBody>
      </p:sp>
    </p:spTree>
    <p:extLst>
      <p:ext uri="{BB962C8B-B14F-4D97-AF65-F5344CB8AC3E}">
        <p14:creationId xmlns:p14="http://schemas.microsoft.com/office/powerpoint/2010/main" val="206397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2134-76FB-D937-C3DA-41EF0CC8D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196D1B-DD28-406F-EE3C-1DD5EBB75212}"/>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263585F-661F-3EC8-D083-F342A4FF16E9}"/>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C7D6AEE0-AB18-3FAA-9620-F39FE4DFE54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F6EC49-1F6C-7215-4C4B-05EB33417C6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9E3638A-F9E4-409C-27B4-56AAA5E73D15}"/>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09</a:t>
            </a:r>
          </a:p>
        </p:txBody>
      </p:sp>
      <p:sp>
        <p:nvSpPr>
          <p:cNvPr id="16" name="TextBox 15">
            <a:extLst>
              <a:ext uri="{FF2B5EF4-FFF2-40B4-BE49-F238E27FC236}">
                <a16:creationId xmlns:a16="http://schemas.microsoft.com/office/drawing/2014/main" id="{18907784-EAE1-E3D4-58F6-7E98F593D9ED}"/>
              </a:ext>
            </a:extLst>
          </p:cNvPr>
          <p:cNvSpPr txBox="1"/>
          <p:nvPr/>
        </p:nvSpPr>
        <p:spPr>
          <a:xfrm>
            <a:off x="304800" y="409825"/>
            <a:ext cx="73152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References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0F815DE-A4A6-A074-8E0D-C6FC55FCF703}"/>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4" name="Rectangle 1">
            <a:extLst>
              <a:ext uri="{FF2B5EF4-FFF2-40B4-BE49-F238E27FC236}">
                <a16:creationId xmlns:a16="http://schemas.microsoft.com/office/drawing/2014/main" id="{10DE04D7-3358-5B8C-4562-AB5AC7840913}"/>
              </a:ext>
            </a:extLst>
          </p:cNvPr>
          <p:cNvSpPr>
            <a:spLocks noChangeArrowheads="1"/>
          </p:cNvSpPr>
          <p:nvPr/>
        </p:nvSpPr>
        <p:spPr bwMode="auto">
          <a:xfrm>
            <a:off x="215246" y="1256492"/>
            <a:ext cx="1125582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Sharma A., Singh R., &amp; Verma P.</a:t>
            </a:r>
            <a:r>
              <a:rPr lang="en-IN" sz="2400" dirty="0">
                <a:latin typeface="Times New Roman" panose="02020603050405020304" pitchFamily="18" charset="0"/>
                <a:cs typeface="Times New Roman" panose="02020603050405020304" pitchFamily="18" charset="0"/>
              </a:rPr>
              <a:t> (2025). </a:t>
            </a:r>
            <a:r>
              <a:rPr lang="en-IN" sz="2400" i="1" dirty="0">
                <a:latin typeface="Times New Roman" panose="02020603050405020304" pitchFamily="18" charset="0"/>
                <a:cs typeface="Times New Roman" panose="02020603050405020304" pitchFamily="18" charset="0"/>
              </a:rPr>
              <a:t>Online Hall Allocation System (OHAS) for Improved Examination Centre Scheduling</a:t>
            </a:r>
            <a:r>
              <a:rPr lang="en-IN" sz="2400" dirty="0">
                <a:latin typeface="Times New Roman" panose="02020603050405020304" pitchFamily="18" charset="0"/>
                <a:cs typeface="Times New Roman" panose="02020603050405020304" pitchFamily="18" charset="0"/>
              </a:rPr>
              <a:t>. International Conference Proceedings on Computing and Automation, 2025.</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Akinola O., Adewale T., &amp; Sodiq M.</a:t>
            </a:r>
            <a:r>
              <a:rPr lang="en-IN" sz="2400" dirty="0">
                <a:latin typeface="Times New Roman" panose="02020603050405020304" pitchFamily="18" charset="0"/>
                <a:cs typeface="Times New Roman" panose="02020603050405020304" pitchFamily="18" charset="0"/>
              </a:rPr>
              <a:t> (2024). </a:t>
            </a:r>
            <a:r>
              <a:rPr lang="en-IN" sz="2400" i="1" dirty="0">
                <a:latin typeface="Times New Roman" panose="02020603050405020304" pitchFamily="18" charset="0"/>
                <a:cs typeface="Times New Roman" panose="02020603050405020304" pitchFamily="18" charset="0"/>
              </a:rPr>
              <a:t>Development of Web-Based Examination Timetable Management and Reporting System</a:t>
            </a:r>
            <a:r>
              <a:rPr lang="en-IN" sz="2400" dirty="0">
                <a:latin typeface="Times New Roman" panose="02020603050405020304" pitchFamily="18" charset="0"/>
                <a:cs typeface="Times New Roman" panose="02020603050405020304" pitchFamily="18" charset="0"/>
              </a:rPr>
              <a:t>. Web-Based Exam Timetable Management Journal, 2024.</a:t>
            </a:r>
          </a:p>
          <a:p>
            <a:pPr marL="457200" indent="-457200">
              <a:buFont typeface="+mj-lt"/>
              <a:buAutoNum type="arabicPeriod"/>
            </a:pPr>
            <a:r>
              <a:rPr lang="en-IN" sz="2400" b="1" dirty="0" err="1">
                <a:latin typeface="Times New Roman" panose="02020603050405020304" pitchFamily="18" charset="0"/>
                <a:cs typeface="Times New Roman" panose="02020603050405020304" pitchFamily="18" charset="0"/>
              </a:rPr>
              <a:t>Pathari</a:t>
            </a:r>
            <a:r>
              <a:rPr lang="en-IN" sz="2400" b="1" dirty="0">
                <a:latin typeface="Times New Roman" panose="02020603050405020304" pitchFamily="18" charset="0"/>
                <a:cs typeface="Times New Roman" panose="02020603050405020304" pitchFamily="18" charset="0"/>
              </a:rPr>
              <a:t> P., Jadhav S., &amp; Deshmukh R.</a:t>
            </a:r>
            <a:r>
              <a:rPr lang="en-IN" sz="2400" dirty="0">
                <a:latin typeface="Times New Roman" panose="02020603050405020304" pitchFamily="18" charset="0"/>
                <a:cs typeface="Times New Roman" panose="02020603050405020304" pitchFamily="18" charset="0"/>
              </a:rPr>
              <a:t> (2024). </a:t>
            </a:r>
            <a:r>
              <a:rPr lang="en-IN" sz="2400" i="1" dirty="0">
                <a:latin typeface="Times New Roman" panose="02020603050405020304" pitchFamily="18" charset="0"/>
                <a:cs typeface="Times New Roman" panose="02020603050405020304" pitchFamily="18" charset="0"/>
              </a:rPr>
              <a:t>Web-Based Exam Seating Arrangement System</a:t>
            </a:r>
            <a:r>
              <a:rPr lang="en-IN" sz="2400" dirty="0">
                <a:latin typeface="Times New Roman" panose="02020603050405020304" pitchFamily="18" charset="0"/>
                <a:cs typeface="Times New Roman" panose="02020603050405020304" pitchFamily="18" charset="0"/>
              </a:rPr>
              <a:t>. International Research Journal of Engineering and Technology (IRJET), 2024.</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Singh S. &amp; Sharma M.</a:t>
            </a:r>
            <a:r>
              <a:rPr lang="en-IN" sz="2400" dirty="0">
                <a:latin typeface="Times New Roman" panose="02020603050405020304" pitchFamily="18" charset="0"/>
                <a:cs typeface="Times New Roman" panose="02020603050405020304" pitchFamily="18" charset="0"/>
              </a:rPr>
              <a:t> (2025). </a:t>
            </a:r>
            <a:r>
              <a:rPr lang="en-IN" sz="2400" i="1" dirty="0">
                <a:latin typeface="Times New Roman" panose="02020603050405020304" pitchFamily="18" charset="0"/>
                <a:cs typeface="Times New Roman" panose="02020603050405020304" pitchFamily="18" charset="0"/>
              </a:rPr>
              <a:t>Dynamic Exam Seating and Invigilation Management Using Web Technologies</a:t>
            </a:r>
            <a:r>
              <a:rPr lang="en-IN" sz="2400" dirty="0">
                <a:latin typeface="Times New Roman" panose="02020603050405020304" pitchFamily="18" charset="0"/>
                <a:cs typeface="Times New Roman" panose="02020603050405020304" pitchFamily="18" charset="0"/>
              </a:rPr>
              <a:t>. International Journal of Creative Research Thoughts (IJCRT), 2025.</a:t>
            </a:r>
          </a:p>
          <a:p>
            <a:pPr marL="457200" indent="-457200">
              <a:buFont typeface="+mj-lt"/>
              <a:buAutoNum type="arabicPeriod"/>
            </a:pPr>
            <a:r>
              <a:rPr lang="en-IN" sz="2400" b="1" dirty="0" err="1">
                <a:latin typeface="Times New Roman" panose="02020603050405020304" pitchFamily="18" charset="0"/>
                <a:cs typeface="Times New Roman" panose="02020603050405020304" pitchFamily="18" charset="0"/>
              </a:rPr>
              <a:t>Ndunagu</a:t>
            </a:r>
            <a:r>
              <a:rPr lang="en-IN" sz="2400" b="1" dirty="0">
                <a:latin typeface="Times New Roman" panose="02020603050405020304" pitchFamily="18" charset="0"/>
                <a:cs typeface="Times New Roman" panose="02020603050405020304" pitchFamily="18" charset="0"/>
              </a:rPr>
              <a:t> J. N., Okoye F., &amp; Ibrahim M.</a:t>
            </a:r>
            <a:r>
              <a:rPr lang="en-IN" sz="2400" dirty="0">
                <a:latin typeface="Times New Roman" panose="02020603050405020304" pitchFamily="18" charset="0"/>
                <a:cs typeface="Times New Roman" panose="02020603050405020304" pitchFamily="18" charset="0"/>
              </a:rPr>
              <a:t> (2025). </a:t>
            </a:r>
            <a:r>
              <a:rPr lang="en-IN" sz="2400" i="1" dirty="0">
                <a:latin typeface="Times New Roman" panose="02020603050405020304" pitchFamily="18" charset="0"/>
                <a:cs typeface="Times New Roman" panose="02020603050405020304" pitchFamily="18" charset="0"/>
              </a:rPr>
              <a:t>Chatbot Student Support System in Open and Distance Learning</a:t>
            </a:r>
            <a:r>
              <a:rPr lang="en-IN" sz="2400" dirty="0">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Computers</a:t>
            </a:r>
            <a:r>
              <a:rPr lang="en-IN" sz="24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3626315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9613E-58C0-ED4C-04C4-10B4C6C548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6B1CBF-A603-8996-319A-341F559A91A3}"/>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4854437-9792-EA4E-9AD6-F2F2315A6258}"/>
              </a:ext>
            </a:extLst>
          </p:cNvPr>
          <p:cNvSpPr txBox="1"/>
          <p:nvPr/>
        </p:nvSpPr>
        <p:spPr>
          <a:xfrm>
            <a:off x="152400" y="6593840"/>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E70E0EF1-FEDF-3E4F-2CCE-64DEADC06750}"/>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AD4B6EA-F6FE-D11E-9B13-6A7CBD38F753}"/>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0D64F47-113C-4121-DD3E-C4CD7DDA3A9E}"/>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0</a:t>
            </a:r>
          </a:p>
        </p:txBody>
      </p:sp>
      <p:sp>
        <p:nvSpPr>
          <p:cNvPr id="16" name="TextBox 15">
            <a:extLst>
              <a:ext uri="{FF2B5EF4-FFF2-40B4-BE49-F238E27FC236}">
                <a16:creationId xmlns:a16="http://schemas.microsoft.com/office/drawing/2014/main" id="{94F206AD-AAE3-2069-A8D1-C46FD5F5E2D4}"/>
              </a:ext>
            </a:extLst>
          </p:cNvPr>
          <p:cNvSpPr txBox="1"/>
          <p:nvPr/>
        </p:nvSpPr>
        <p:spPr>
          <a:xfrm>
            <a:off x="304800" y="409825"/>
            <a:ext cx="7315200" cy="769441"/>
          </a:xfrm>
          <a:prstGeom prst="rect">
            <a:avLst/>
          </a:prstGeom>
          <a:noFill/>
        </p:spPr>
        <p:txBody>
          <a:bodyPr wrap="square" rtlCol="0">
            <a:spAutoFit/>
          </a:bodyPr>
          <a:lstStyle/>
          <a:p>
            <a:r>
              <a:rPr lang="en-US" sz="4400" kern="0" spc="-10" dirty="0">
                <a:solidFill>
                  <a:prstClr val="white"/>
                </a:solidFill>
                <a:latin typeface="Times New Roman"/>
                <a:cs typeface="Times New Roman"/>
              </a:rPr>
              <a:t>G</a:t>
            </a:r>
            <a:r>
              <a:rPr lang="en-IN" sz="4400" kern="0" spc="-10" dirty="0" err="1">
                <a:solidFill>
                  <a:prstClr val="white"/>
                </a:solidFill>
                <a:latin typeface="Times New Roman"/>
                <a:cs typeface="Times New Roman"/>
              </a:rPr>
              <a:t>itHub</a:t>
            </a:r>
            <a:r>
              <a:rPr lang="en-IN" sz="4400" kern="0" spc="-10" dirty="0">
                <a:solidFill>
                  <a:prstClr val="white"/>
                </a:solidFill>
                <a:latin typeface="Times New Roman"/>
                <a:cs typeface="Times New Roman"/>
              </a:rPr>
              <a:t> Dashboard</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D9C8A19-771E-6CE7-EB05-707213889871}"/>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6" name="TextBox 5">
            <a:extLst>
              <a:ext uri="{FF2B5EF4-FFF2-40B4-BE49-F238E27FC236}">
                <a16:creationId xmlns:a16="http://schemas.microsoft.com/office/drawing/2014/main" id="{50F36D9E-E122-3137-F3F1-A53A8008E353}"/>
              </a:ext>
            </a:extLst>
          </p:cNvPr>
          <p:cNvSpPr txBox="1"/>
          <p:nvPr/>
        </p:nvSpPr>
        <p:spPr>
          <a:xfrm>
            <a:off x="533400" y="6078843"/>
            <a:ext cx="968867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GitHub Link : </a:t>
            </a:r>
            <a:r>
              <a:rPr lang="en-US" sz="2400" dirty="0">
                <a:latin typeface="Times New Roman" panose="02020603050405020304" pitchFamily="18" charset="0"/>
                <a:cs typeface="Times New Roman" panose="02020603050405020304" pitchFamily="18" charset="0"/>
              </a:rPr>
              <a:t>https://github.com/Bhavitha511/CSE_2022-2026_Batch-A18</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F22A82E-93CC-358D-BE12-4DE515E27CC7}"/>
              </a:ext>
            </a:extLst>
          </p:cNvPr>
          <p:cNvPicPr>
            <a:picLocks noChangeAspect="1"/>
          </p:cNvPicPr>
          <p:nvPr/>
        </p:nvPicPr>
        <p:blipFill>
          <a:blip r:embed="rId3"/>
          <a:stretch>
            <a:fillRect/>
          </a:stretch>
        </p:blipFill>
        <p:spPr>
          <a:xfrm>
            <a:off x="1387174" y="1248025"/>
            <a:ext cx="8911974" cy="4783394"/>
          </a:xfrm>
          <a:prstGeom prst="rect">
            <a:avLst/>
          </a:prstGeom>
        </p:spPr>
      </p:pic>
    </p:spTree>
    <p:extLst>
      <p:ext uri="{BB962C8B-B14F-4D97-AF65-F5344CB8AC3E}">
        <p14:creationId xmlns:p14="http://schemas.microsoft.com/office/powerpoint/2010/main" val="3154369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0CAFF-AE1B-FF5D-AD2D-1AE7D9A19F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E50AEE-E966-1F94-7850-89D668136DED}"/>
              </a:ext>
            </a:extLst>
          </p:cNvPr>
          <p:cNvSpPr txBox="1"/>
          <p:nvPr/>
        </p:nvSpPr>
        <p:spPr>
          <a:xfrm>
            <a:off x="152400" y="6589714"/>
            <a:ext cx="7620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A18</a:t>
            </a:r>
          </a:p>
        </p:txBody>
      </p:sp>
      <p:sp>
        <p:nvSpPr>
          <p:cNvPr id="11" name="TextBox 10">
            <a:extLst>
              <a:ext uri="{FF2B5EF4-FFF2-40B4-BE49-F238E27FC236}">
                <a16:creationId xmlns:a16="http://schemas.microsoft.com/office/drawing/2014/main" id="{2365F503-6185-721A-D941-0592CF1DE4EE}"/>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D763E08-717A-71C8-5B00-0441BE5EA05A}"/>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19066D6-9D2D-16B5-7B19-EF30037673FD}"/>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1</a:t>
            </a:r>
          </a:p>
        </p:txBody>
      </p:sp>
      <p:sp>
        <p:nvSpPr>
          <p:cNvPr id="20" name="TextBox 19">
            <a:extLst>
              <a:ext uri="{FF2B5EF4-FFF2-40B4-BE49-F238E27FC236}">
                <a16:creationId xmlns:a16="http://schemas.microsoft.com/office/drawing/2014/main" id="{68EF15B1-0938-0911-6948-DE6B630CE48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Automation Of Invigilation Duties</a:t>
            </a:r>
            <a:endParaRPr lang="en-IN" dirty="0"/>
          </a:p>
        </p:txBody>
      </p:sp>
      <p:sp>
        <p:nvSpPr>
          <p:cNvPr id="7" name="TextBox 6">
            <a:extLst>
              <a:ext uri="{FF2B5EF4-FFF2-40B4-BE49-F238E27FC236}">
                <a16:creationId xmlns:a16="http://schemas.microsoft.com/office/drawing/2014/main" id="{D9A0E337-463E-EEBB-8E19-EB5E19143744}"/>
              </a:ext>
            </a:extLst>
          </p:cNvPr>
          <p:cNvSpPr txBox="1"/>
          <p:nvPr/>
        </p:nvSpPr>
        <p:spPr>
          <a:xfrm>
            <a:off x="2697548" y="2644170"/>
            <a:ext cx="8399357" cy="1569660"/>
          </a:xfrm>
          <a:prstGeom prst="rect">
            <a:avLst/>
          </a:prstGeom>
          <a:noFill/>
        </p:spPr>
        <p:txBody>
          <a:bodyPr wrap="square">
            <a:spAutoFit/>
          </a:bodyPr>
          <a:lstStyle/>
          <a:p>
            <a:r>
              <a:rPr lang="en-IN" sz="9600" i="1" dirty="0">
                <a:solidFill>
                  <a:srgbClr val="FF6600"/>
                </a:solidFill>
                <a:latin typeface="Times New Roman"/>
                <a:cs typeface="Times New Roman"/>
              </a:rPr>
              <a:t>Any</a:t>
            </a:r>
            <a:r>
              <a:rPr lang="en-IN" sz="9600" i="1" spc="-30" dirty="0">
                <a:solidFill>
                  <a:srgbClr val="FF6600"/>
                </a:solidFill>
                <a:latin typeface="Times New Roman"/>
                <a:cs typeface="Times New Roman"/>
              </a:rPr>
              <a:t> </a:t>
            </a:r>
            <a:r>
              <a:rPr lang="en-IN" sz="9600" i="1" spc="-10" dirty="0">
                <a:solidFill>
                  <a:srgbClr val="FF6600"/>
                </a:solidFill>
                <a:latin typeface="Times New Roman"/>
                <a:cs typeface="Times New Roman"/>
              </a:rPr>
              <a:t>Queries?</a:t>
            </a:r>
            <a:endParaRPr lang="en-IN" sz="9600" dirty="0"/>
          </a:p>
        </p:txBody>
      </p:sp>
    </p:spTree>
    <p:extLst>
      <p:ext uri="{BB962C8B-B14F-4D97-AF65-F5344CB8AC3E}">
        <p14:creationId xmlns:p14="http://schemas.microsoft.com/office/powerpoint/2010/main" val="2024550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1335</Words>
  <Application>Microsoft Office PowerPoint</Application>
  <PresentationFormat>Widescreen</PresentationFormat>
  <Paragraphs>166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bhavitha yadalam</dc:creator>
  <cp:lastModifiedBy>saikeerthi Yadalam</cp:lastModifiedBy>
  <cp:revision>4</cp:revision>
  <dcterms:created xsi:type="dcterms:W3CDTF">2025-12-04T15:14:53Z</dcterms:created>
  <dcterms:modified xsi:type="dcterms:W3CDTF">2025-12-12T04:39:01Z</dcterms:modified>
</cp:coreProperties>
</file>